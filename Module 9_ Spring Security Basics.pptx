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5"/>
    <p:sldMasterId id="2147483684" r:id="rId6"/>
    <p:sldMasterId id="214748368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y="5143500" cx="9144000"/>
  <p:notesSz cx="6858000" cy="9144000"/>
  <p:embeddedFontLst>
    <p:embeddedFont>
      <p:font typeface="IBM Plex Sans"/>
      <p:regular r:id="rId36"/>
      <p:bold r:id="rId37"/>
      <p:italic r:id="rId38"/>
      <p:boldItalic r:id="rId39"/>
    </p:embeddedFont>
    <p:embeddedFont>
      <p:font typeface="Arial Black"/>
      <p:regular r:id="rId40"/>
    </p:embeddedFont>
    <p:embeddedFont>
      <p:font typeface="Roboto Mon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C44CE5-622F-461E-9F37-ECF6465D7F2D}">
  <a:tblStyle styleId="{3CC44CE5-622F-461E-9F37-ECF6465D7F2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Black-regular.fntdata"/><Relationship Id="rId20" Type="http://schemas.openxmlformats.org/officeDocument/2006/relationships/slide" Target="slides/slide12.xml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22" Type="http://schemas.openxmlformats.org/officeDocument/2006/relationships/slide" Target="slides/slide14.xml"/><Relationship Id="rId44" Type="http://schemas.openxmlformats.org/officeDocument/2006/relationships/font" Target="fonts/RobotoMono-boldItalic.fntdata"/><Relationship Id="rId21" Type="http://schemas.openxmlformats.org/officeDocument/2006/relationships/slide" Target="slides/slide13.xml"/><Relationship Id="rId43" Type="http://schemas.openxmlformats.org/officeDocument/2006/relationships/font" Target="fonts/RobotoMono-italic.fntdata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font" Target="fonts/IBMPlexSans-bold.fntdata"/><Relationship Id="rId14" Type="http://schemas.openxmlformats.org/officeDocument/2006/relationships/slide" Target="slides/slide6.xml"/><Relationship Id="rId36" Type="http://schemas.openxmlformats.org/officeDocument/2006/relationships/font" Target="fonts/IBMPlexSans-regular.fntdata"/><Relationship Id="rId17" Type="http://schemas.openxmlformats.org/officeDocument/2006/relationships/slide" Target="slides/slide9.xml"/><Relationship Id="rId39" Type="http://schemas.openxmlformats.org/officeDocument/2006/relationships/font" Target="fonts/IBMPlexSans-boldItalic.fntdata"/><Relationship Id="rId16" Type="http://schemas.openxmlformats.org/officeDocument/2006/relationships/slide" Target="slides/slide8.xml"/><Relationship Id="rId38" Type="http://schemas.openxmlformats.org/officeDocument/2006/relationships/font" Target="fonts/IBMPlexSans-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3cf5223eb_0_64:notes"/>
          <p:cNvSpPr txBox="1"/>
          <p:nvPr>
            <p:ph idx="1" type="body"/>
          </p:nvPr>
        </p:nvSpPr>
        <p:spPr>
          <a:xfrm>
            <a:off x="760343" y="4699239"/>
            <a:ext cx="6082200" cy="44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a3cf5223eb_0_64:notes"/>
          <p:cNvSpPr/>
          <p:nvPr>
            <p:ph idx="2" type="sldImg"/>
          </p:nvPr>
        </p:nvSpPr>
        <p:spPr>
          <a:xfrm>
            <a:off x="521922" y="751751"/>
            <a:ext cx="6558900" cy="37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51c6d58e0_0_3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g3b51c6d58e0_0_3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b51c6d58e0_0_3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e731a4aa0_0_1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g3ce731a4aa0_0_1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ce731a4aa0_0_1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cd615c060_0_5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g3ccd615c060_0_5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ccd615c060_0_5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a743a2a26_3_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3ba743a2a26_3_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ba743a2a26_3_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e731a4aa0_0_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g3ce731a4aa0_0_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ce731a4aa0_0_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e731a4aa0_0_2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g3ce731a4aa0_0_2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ce731a4aa0_0_2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e731a4aa0_0_3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g3ce731a4aa0_0_3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ce731a4aa0_0_3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e731a4aa0_0_10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g3ce731a4aa0_0_10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ce731a4aa0_0_10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e731a4aa0_0_39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g3ce731a4aa0_0_39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ce731a4aa0_0_39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e731a4aa0_0_5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g3ce731a4aa0_0_5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ce731a4aa0_0_5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e731a4aa0_0_6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g3ce731a4aa0_0_6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ce731a4aa0_0_6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e731a4aa0_0_7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g3ce731a4aa0_0_7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ce731a4aa0_0_7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ce731a4aa0_0_88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g3ce731a4aa0_0_88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ce731a4aa0_0_88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ce731a4aa0_0_109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g3ce731a4aa0_0_109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ce731a4aa0_0_109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e731a4aa0_0_12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g3ce731a4aa0_0_12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ce731a4aa0_0_12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e731a4aa0_0_13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g3ce731a4aa0_0_13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ce731a4aa0_0_13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e731a4aa0_0_15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g3ce731a4aa0_0_15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ce731a4aa0_0_15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ed74d5638_0_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g3ced74d5638_0_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ced74d5638_0_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ed74d5638_0_1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g3ced74d5638_0_1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ced74d5638_0_1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ced74d5638_0_2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g3ced74d5638_0_2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ced74d5638_0_2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ed74d5638_0_39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g3ced74d5638_0_39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ced74d5638_0_39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ced74d5638_0_7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g3ced74d5638_0_7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ced74d5638_0_7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ed74d5638_0_5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g3ced74d5638_0_5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ced74d5638_0_5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ced74d5638_0_8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g3ced74d5638_0_8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ced74d5638_0_8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ed74d5638_0_98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g3ced74d5638_0_98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ced74d5638_0_98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ed74d5638_0_125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g3ced74d5638_0_125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ced74d5638_0_125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idx="1" type="subTitle"/>
          </p:nvPr>
        </p:nvSpPr>
        <p:spPr>
          <a:xfrm>
            <a:off x="457110" y="205200"/>
            <a:ext cx="8229300" cy="3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3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3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457110" y="120339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2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4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" type="body"/>
          </p:nvPr>
        </p:nvSpPr>
        <p:spPr>
          <a:xfrm>
            <a:off x="45711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2" type="body"/>
          </p:nvPr>
        </p:nvSpPr>
        <p:spPr>
          <a:xfrm>
            <a:off x="323973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3" type="body"/>
          </p:nvPr>
        </p:nvSpPr>
        <p:spPr>
          <a:xfrm>
            <a:off x="602235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4" type="body"/>
          </p:nvPr>
        </p:nvSpPr>
        <p:spPr>
          <a:xfrm>
            <a:off x="45711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5" type="body"/>
          </p:nvPr>
        </p:nvSpPr>
        <p:spPr>
          <a:xfrm>
            <a:off x="323973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6" type="body"/>
          </p:nvPr>
        </p:nvSpPr>
        <p:spPr>
          <a:xfrm>
            <a:off x="602235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" type="subTitle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9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0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30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30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2"/>
          <p:cNvSpPr txBox="1"/>
          <p:nvPr>
            <p:ph idx="1" type="subTitle"/>
          </p:nvPr>
        </p:nvSpPr>
        <p:spPr>
          <a:xfrm>
            <a:off x="457110" y="205200"/>
            <a:ext cx="8229300" cy="3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3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33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33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34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34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3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5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5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5"/>
          <p:cNvSpPr txBox="1"/>
          <p:nvPr>
            <p:ph idx="3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36"/>
          <p:cNvSpPr txBox="1"/>
          <p:nvPr>
            <p:ph idx="1" type="body"/>
          </p:nvPr>
        </p:nvSpPr>
        <p:spPr>
          <a:xfrm>
            <a:off x="457110" y="120339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36"/>
          <p:cNvSpPr txBox="1"/>
          <p:nvPr>
            <p:ph idx="2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7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37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37"/>
          <p:cNvSpPr txBox="1"/>
          <p:nvPr>
            <p:ph idx="4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1" type="body"/>
          </p:nvPr>
        </p:nvSpPr>
        <p:spPr>
          <a:xfrm>
            <a:off x="45711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8"/>
          <p:cNvSpPr txBox="1"/>
          <p:nvPr>
            <p:ph idx="2" type="body"/>
          </p:nvPr>
        </p:nvSpPr>
        <p:spPr>
          <a:xfrm>
            <a:off x="323973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8"/>
          <p:cNvSpPr txBox="1"/>
          <p:nvPr>
            <p:ph idx="3" type="body"/>
          </p:nvPr>
        </p:nvSpPr>
        <p:spPr>
          <a:xfrm>
            <a:off x="602235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38"/>
          <p:cNvSpPr txBox="1"/>
          <p:nvPr>
            <p:ph idx="4" type="body"/>
          </p:nvPr>
        </p:nvSpPr>
        <p:spPr>
          <a:xfrm>
            <a:off x="45711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38"/>
          <p:cNvSpPr txBox="1"/>
          <p:nvPr>
            <p:ph idx="5" type="body"/>
          </p:nvPr>
        </p:nvSpPr>
        <p:spPr>
          <a:xfrm>
            <a:off x="323973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8"/>
          <p:cNvSpPr txBox="1"/>
          <p:nvPr>
            <p:ph idx="6" type="body"/>
          </p:nvPr>
        </p:nvSpPr>
        <p:spPr>
          <a:xfrm>
            <a:off x="602235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2.jpg"/><Relationship Id="rId2" Type="http://schemas.openxmlformats.org/officeDocument/2006/relationships/image" Target="../media/image4.jp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0910" y="0"/>
            <a:ext cx="955260" cy="73737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3881250" y="4943430"/>
            <a:ext cx="5274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525" spcFirstLastPara="1" rIns="91525" wrap="square" tIns="456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D23"/>
                </a:solidFill>
                <a:latin typeface="Arial"/>
                <a:ea typeface="Arial"/>
                <a:cs typeface="Arial"/>
                <a:sym typeface="Arial"/>
              </a:rPr>
              <a:t>THIS DOCUMENT IS THE PROPERTY OF BANK OF THE PHILIPPINE ISLANDS.  STRICTLY CONFIDENTIAL.</a:t>
            </a:r>
            <a:endParaRPr b="0" i="0" sz="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4318380" y="47520"/>
            <a:ext cx="525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1136430" y="4981500"/>
            <a:ext cx="6889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document contains confidential data. It is intended solely for  the use of authorized recipient(s). Unauthorized use, disclosure, or reproduction  is strictly prohibited.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13"/>
          <p:cNvCxnSpPr/>
          <p:nvPr/>
        </p:nvCxnSpPr>
        <p:spPr>
          <a:xfrm>
            <a:off x="2708100" y="732510"/>
            <a:ext cx="0" cy="3429000"/>
          </a:xfrm>
          <a:prstGeom prst="straightConnector1">
            <a:avLst/>
          </a:prstGeom>
          <a:noFill/>
          <a:ln cap="flat" cmpd="sng" w="21325">
            <a:solidFill>
              <a:srgbClr val="9B1D2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6" name="Google Shape;56;p13"/>
          <p:cNvSpPr/>
          <p:nvPr/>
        </p:nvSpPr>
        <p:spPr>
          <a:xfrm>
            <a:off x="8000910" y="0"/>
            <a:ext cx="1066200" cy="589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10" y="1566000"/>
            <a:ext cx="2609010" cy="201096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>
            <p:ph type="title"/>
          </p:nvPr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379350" y="1200150"/>
            <a:ext cx="8384400" cy="3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0910" y="0"/>
            <a:ext cx="955260" cy="7373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6"/>
          <p:cNvSpPr/>
          <p:nvPr/>
        </p:nvSpPr>
        <p:spPr>
          <a:xfrm>
            <a:off x="3881250" y="4943430"/>
            <a:ext cx="5274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525" spcFirstLastPara="1" rIns="91525" wrap="square" tIns="456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D23"/>
                </a:solidFill>
                <a:latin typeface="Arial"/>
                <a:ea typeface="Arial"/>
                <a:cs typeface="Arial"/>
                <a:sym typeface="Arial"/>
              </a:rPr>
              <a:t>THIS DOCUMENT IS THE PROPERTY OF BANK OF THE PHILIPPINE ISLANDS.  STRICTLY CONFIDENTIAL.</a:t>
            </a:r>
            <a:endParaRPr b="0" i="0" sz="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318380" y="47520"/>
            <a:ext cx="525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1136430" y="4981500"/>
            <a:ext cx="6889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document contains confidential data. It is intended solely for  the use of authorized recipient(s). Unauthorized use, disclosure, or reproduction  is strictly prohibited.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9"/>
          <p:cNvSpPr/>
          <p:nvPr/>
        </p:nvSpPr>
        <p:spPr>
          <a:xfrm>
            <a:off x="2886030" y="737640"/>
            <a:ext cx="5114100" cy="21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000">
                <a:solidFill>
                  <a:srgbClr val="9B1D23"/>
                </a:solidFill>
                <a:latin typeface="Arial Black"/>
                <a:ea typeface="Arial Black"/>
                <a:cs typeface="Arial Black"/>
                <a:sym typeface="Arial Black"/>
              </a:rPr>
              <a:t>Module 9: Spring Security Basics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8" name="Google Shape;168;p39"/>
          <p:cNvSpPr/>
          <p:nvPr/>
        </p:nvSpPr>
        <p:spPr>
          <a:xfrm>
            <a:off x="2886030" y="2919780"/>
            <a:ext cx="51141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Calibri"/>
                <a:ea typeface="Calibri"/>
                <a:cs typeface="Calibri"/>
                <a:sym typeface="Calibri"/>
              </a:rPr>
              <a:t>A BPI Training Program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9"/>
          <p:cNvSpPr/>
          <p:nvPr/>
        </p:nvSpPr>
        <p:spPr>
          <a:xfrm>
            <a:off x="0" y="4841640"/>
            <a:ext cx="7611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Objectives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76" name="Google Shape;176;p4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7" name="Google Shape;177;p40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C9211E"/>
                </a:solidFill>
              </a:rPr>
              <a:t>Day 1 </a:t>
            </a:r>
            <a:r>
              <a:rPr b="1" lang="en" sz="4000">
                <a:solidFill>
                  <a:srgbClr val="C9211E"/>
                </a:solidFill>
              </a:rPr>
              <a:t>—</a:t>
            </a:r>
            <a:r>
              <a:rPr b="1" lang="en" sz="4000">
                <a:solidFill>
                  <a:srgbClr val="C9211E"/>
                </a:solidFill>
              </a:rPr>
              <a:t> Introduction &amp; Core Concepts</a:t>
            </a:r>
            <a:endParaRPr b="1" sz="4000">
              <a:solidFill>
                <a:srgbClr val="C9211E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C9211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1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Objectives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84" name="Google Shape;184;p4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5" name="Google Shape;185;p41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500" u="sng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Learning</a:t>
            </a:r>
            <a:r>
              <a:rPr b="1" lang="en" sz="1500" u="sng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 Objectives:</a:t>
            </a:r>
            <a:endParaRPr b="1" sz="1300" u="sng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Explain the </a:t>
            </a:r>
            <a:r>
              <a:rPr b="1" lang="en" sz="1300">
                <a:solidFill>
                  <a:schemeClr val="dk1"/>
                </a:solidFill>
              </a:rPr>
              <a:t>importance of application security</a:t>
            </a:r>
            <a:r>
              <a:rPr lang="en" sz="1300">
                <a:solidFill>
                  <a:schemeClr val="dk1"/>
                </a:solidFill>
              </a:rPr>
              <a:t> in modern web applications.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Distinguish between </a:t>
            </a:r>
            <a:r>
              <a:rPr b="1" lang="en" sz="1300">
                <a:solidFill>
                  <a:schemeClr val="dk1"/>
                </a:solidFill>
              </a:rPr>
              <a:t>authentication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b="1" lang="en" sz="1300">
                <a:solidFill>
                  <a:schemeClr val="dk1"/>
                </a:solidFill>
              </a:rPr>
              <a:t>authorization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Identify </a:t>
            </a:r>
            <a:r>
              <a:rPr b="1" lang="en" sz="1300">
                <a:solidFill>
                  <a:schemeClr val="dk1"/>
                </a:solidFill>
              </a:rPr>
              <a:t>common web security threats</a:t>
            </a:r>
            <a:r>
              <a:rPr lang="en" sz="1300">
                <a:solidFill>
                  <a:schemeClr val="dk1"/>
                </a:solidFill>
              </a:rPr>
              <a:t> (session hijacking, brute-force attacks, etc).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Describe the </a:t>
            </a:r>
            <a:r>
              <a:rPr b="1" lang="en" sz="1300">
                <a:solidFill>
                  <a:schemeClr val="dk1"/>
                </a:solidFill>
              </a:rPr>
              <a:t>core components</a:t>
            </a:r>
            <a:r>
              <a:rPr lang="en" sz="1300">
                <a:solidFill>
                  <a:schemeClr val="dk1"/>
                </a:solidFill>
              </a:rPr>
              <a:t> of Spring Security architecture</a:t>
            </a:r>
            <a:endParaRPr sz="13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Demonstrate the </a:t>
            </a:r>
            <a:r>
              <a:rPr b="1" lang="en" sz="1300">
                <a:solidFill>
                  <a:schemeClr val="dk1"/>
                </a:solidFill>
              </a:rPr>
              <a:t>default behavior</a:t>
            </a:r>
            <a:r>
              <a:rPr lang="en" sz="1300">
                <a:solidFill>
                  <a:schemeClr val="dk1"/>
                </a:solidFill>
              </a:rPr>
              <a:t> of Spring Security in a new Spring Boot application.</a:t>
            </a:r>
            <a:endParaRPr sz="13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Discuss authentication 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2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92" name="Google Shape;192;p4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3" name="Google Shape;193;p42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Why Security Matters?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Security is a </a:t>
            </a:r>
            <a:r>
              <a:rPr b="1" lang="en" sz="1700">
                <a:solidFill>
                  <a:schemeClr val="dk1"/>
                </a:solidFill>
              </a:rPr>
              <a:t>critical cross-cutting concern</a:t>
            </a:r>
            <a:r>
              <a:rPr lang="en" sz="1700">
                <a:solidFill>
                  <a:schemeClr val="dk1"/>
                </a:solidFill>
              </a:rPr>
              <a:t> in all applications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Protects data, users, and business logic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Prevents commo</a:t>
            </a:r>
            <a:r>
              <a:rPr lang="en" sz="1700">
                <a:solidFill>
                  <a:schemeClr val="dk1"/>
                </a:solidFill>
              </a:rPr>
              <a:t>n</a:t>
            </a:r>
            <a:r>
              <a:rPr lang="en" sz="1700">
                <a:solidFill>
                  <a:schemeClr val="dk1"/>
                </a:solidFill>
              </a:rPr>
              <a:t> vulnerabilities: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en" sz="1700">
                <a:solidFill>
                  <a:schemeClr val="dk1"/>
                </a:solidFill>
              </a:rPr>
              <a:t>Unauthorized access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en" sz="1700">
                <a:solidFill>
                  <a:schemeClr val="dk1"/>
                </a:solidFill>
              </a:rPr>
              <a:t>Data leaks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en" sz="1700">
                <a:solidFill>
                  <a:schemeClr val="dk1"/>
                </a:solidFill>
              </a:rPr>
              <a:t>Session hijacking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en" sz="1700">
                <a:solidFill>
                  <a:schemeClr val="dk1"/>
                </a:solidFill>
              </a:rPr>
              <a:t>Brute force attacks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3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00" name="Google Shape;200;p4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1" name="Google Shape;201;p43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What is Spring Security?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 </a:t>
            </a:r>
            <a:r>
              <a:rPr b="1" lang="en" sz="2000">
                <a:solidFill>
                  <a:schemeClr val="dk1"/>
                </a:solidFill>
              </a:rPr>
              <a:t>framework that provides authentication and authorization</a:t>
            </a:r>
            <a:r>
              <a:rPr lang="en" sz="2000">
                <a:solidFill>
                  <a:schemeClr val="dk1"/>
                </a:solidFill>
              </a:rPr>
              <a:t> for Spring applications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Manages </a:t>
            </a:r>
            <a:r>
              <a:rPr b="1" lang="en" sz="2000">
                <a:solidFill>
                  <a:schemeClr val="dk1"/>
                </a:solidFill>
              </a:rPr>
              <a:t>user identity, access control, and session security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Helps protect against </a:t>
            </a:r>
            <a:r>
              <a:rPr b="1" lang="en" sz="2000">
                <a:solidFill>
                  <a:schemeClr val="dk1"/>
                </a:solidFill>
              </a:rPr>
              <a:t>common web attacks</a:t>
            </a:r>
            <a:r>
              <a:rPr lang="en" sz="2000">
                <a:solidFill>
                  <a:schemeClr val="dk1"/>
                </a:solidFill>
              </a:rPr>
              <a:t> like CSRF, session fixation, and clickjacking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Protects endpoints automatically and works seamlessly with </a:t>
            </a:r>
            <a:r>
              <a:rPr b="1" lang="en" sz="2000">
                <a:solidFill>
                  <a:schemeClr val="dk1"/>
                </a:solidFill>
              </a:rPr>
              <a:t>Spring Boot</a:t>
            </a:r>
            <a:r>
              <a:rPr lang="en" sz="2000">
                <a:solidFill>
                  <a:schemeClr val="dk1"/>
                </a:solidFill>
              </a:rPr>
              <a:t> out-of-the-box</a:t>
            </a: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08" name="Google Shape;208;p4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9" name="Google Shape;209;p44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Core Security Features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>
                <a:solidFill>
                  <a:schemeClr val="dk1"/>
                </a:solidFill>
              </a:rPr>
              <a:t>Authentication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Authorization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Password Encryption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Session Management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CSRF protection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5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16" name="Google Shape;216;p45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7" name="Google Shape;217;p45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Authentication vs Authorization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dk1"/>
                </a:solidFill>
              </a:rPr>
              <a:t>Authentication</a:t>
            </a:r>
            <a:endParaRPr b="1" sz="1200" u="sng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Verifies </a:t>
            </a:r>
            <a:r>
              <a:rPr b="1" lang="en" sz="1200">
                <a:solidFill>
                  <a:schemeClr val="dk1"/>
                </a:solidFill>
              </a:rPr>
              <a:t>who you are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Example: login with username &amp; password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Can be in-memory, database, or external system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dk1"/>
                </a:solidFill>
              </a:rPr>
              <a:t>Authorization</a:t>
            </a:r>
            <a:endParaRPr b="1" sz="1200" u="sng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Determines </a:t>
            </a:r>
            <a:r>
              <a:rPr b="1" lang="en" sz="1200">
                <a:solidFill>
                  <a:schemeClr val="dk1"/>
                </a:solidFill>
              </a:rPr>
              <a:t>what you can d</a:t>
            </a:r>
            <a:r>
              <a:rPr b="1" lang="en" sz="1200">
                <a:solidFill>
                  <a:schemeClr val="dk1"/>
                </a:solidFill>
              </a:rPr>
              <a:t>o </a:t>
            </a:r>
            <a:r>
              <a:rPr lang="en" sz="1200">
                <a:solidFill>
                  <a:schemeClr val="dk1"/>
                </a:solidFill>
              </a:rPr>
              <a:t>/ </a:t>
            </a:r>
            <a:r>
              <a:rPr b="1" lang="en" sz="1200">
                <a:solidFill>
                  <a:schemeClr val="dk1"/>
                </a:solidFill>
              </a:rPr>
              <a:t>what can you access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Example: only ADMIN can delete users; normal USER can only view users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Controlled by roles, permissions, or authorities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dk1"/>
                </a:solidFill>
              </a:rPr>
              <a:t>Flow</a:t>
            </a:r>
            <a:endParaRPr b="1" sz="1200" u="sng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Authentication happens </a:t>
            </a:r>
            <a:r>
              <a:rPr b="1" lang="en" sz="1200">
                <a:solidFill>
                  <a:schemeClr val="dk1"/>
                </a:solidFill>
              </a:rPr>
              <a:t>firs</a:t>
            </a:r>
            <a:r>
              <a:rPr b="1" lang="en" sz="1200">
                <a:solidFill>
                  <a:schemeClr val="dk1"/>
                </a:solidFill>
              </a:rPr>
              <a:t>t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Authorization happens </a:t>
            </a:r>
            <a:r>
              <a:rPr b="1" lang="en" sz="1200">
                <a:solidFill>
                  <a:schemeClr val="dk1"/>
                </a:solidFill>
              </a:rPr>
              <a:t>after authentication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6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24" name="Google Shape;224;p46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5" name="Google Shape;225;p46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Components of Spring Security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The following are the basic components that form the spring security architecture.</a:t>
            </a:r>
            <a:endParaRPr b="1" sz="18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00"/>
              <a:t>Filters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00"/>
              <a:t>Authentication Manager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00"/>
              <a:t>Authentication Provider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00"/>
              <a:t>UserDetailsService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00"/>
              <a:t>Password Encoder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7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32" name="Google Shape;232;p47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3" name="Google Shape;233;p47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C9211E"/>
              </a:solidFill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C9211E"/>
              </a:solidFill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C9211E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Components of</a:t>
            </a:r>
            <a:br>
              <a:rPr b="1" lang="en" sz="2400">
                <a:solidFill>
                  <a:srgbClr val="C9211E"/>
                </a:solidFill>
              </a:rPr>
            </a:br>
            <a:r>
              <a:rPr b="1" lang="en" sz="2400">
                <a:solidFill>
                  <a:srgbClr val="C9211E"/>
                </a:solidFill>
              </a:rPr>
              <a:t>Spring Security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2850" y="733900"/>
            <a:ext cx="4894275" cy="419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41" name="Google Shape;241;p48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2" name="Google Shape;242;p48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Filter (Security Filter Chain)</a:t>
            </a:r>
            <a:endParaRPr sz="24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Purpose: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Intercepts </a:t>
            </a:r>
            <a:r>
              <a:rPr b="1" lang="en" sz="1100">
                <a:solidFill>
                  <a:schemeClr val="dk1"/>
                </a:solidFill>
              </a:rPr>
              <a:t>all incoming HTTP requests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Applies security rules (authentication, authorization, CSRF</a:t>
            </a:r>
            <a:r>
              <a:rPr lang="en" sz="1100">
                <a:solidFill>
                  <a:schemeClr val="dk1"/>
                </a:solidFill>
              </a:rPr>
              <a:t> checks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Responsible for extracting user authentication details and tokens. These user details are packaged as authentication objects and passed to </a:t>
            </a:r>
            <a:r>
              <a:rPr b="1" lang="en" sz="1100">
                <a:solidFill>
                  <a:schemeClr val="dk1"/>
                </a:solidFill>
              </a:rPr>
              <a:t>Authentication Manager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Login requests intercepted by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UsernamePasswordAuthenticationFilter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243" name="Google Shape;24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425" y="1805025"/>
            <a:ext cx="5426575" cy="121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9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50" name="Google Shape;250;p49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1" name="Google Shape;251;p49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Authentication Manager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Purpose: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Coordinates authentication process.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Delegates credential verification to </a:t>
            </a:r>
            <a:r>
              <a:rPr b="1" lang="en" sz="1100">
                <a:solidFill>
                  <a:schemeClr val="dk1"/>
                </a:solidFill>
              </a:rPr>
              <a:t>one or more AuthenticationProviders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Example: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Receives login request and passes username/password to providers.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Can combine multiple strategies (in-memory, DB, LDAP).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252" name="Google Shape;25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7700" y="1266825"/>
            <a:ext cx="3267076" cy="330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59" name="Google Shape;259;p5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0" name="Google Shape;260;p50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Authentication Provider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Purpose: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Performs actual verification of credentials.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Throws exception if authentication fails.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DaoAuthenticationProvider</a:t>
            </a:r>
            <a:r>
              <a:rPr lang="en" sz="1100">
                <a:solidFill>
                  <a:schemeClr val="dk1"/>
                </a:solidFill>
              </a:rPr>
              <a:t> checks 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username/password against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UserDetailsService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Can implement custom logic for third-party systems.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261" name="Google Shape;26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4175" y="1453750"/>
            <a:ext cx="4468500" cy="321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1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68" name="Google Shape;268;p5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9" name="Google Shape;269;p51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UserDetailsService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Purpose: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Loads </a:t>
            </a:r>
            <a:r>
              <a:rPr b="1" lang="en" sz="1100">
                <a:solidFill>
                  <a:schemeClr val="dk1"/>
                </a:solidFill>
              </a:rPr>
              <a:t>user information</a:t>
            </a:r>
            <a:r>
              <a:rPr lang="en" sz="1100">
                <a:solidFill>
                  <a:schemeClr val="dk1"/>
                </a:solidFill>
              </a:rPr>
              <a:t> (username, password,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roles/authorities).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Supplies data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AuthenticationProvider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Example: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70" name="Google Shape;270;p51"/>
          <p:cNvSpPr txBox="1"/>
          <p:nvPr/>
        </p:nvSpPr>
        <p:spPr>
          <a:xfrm>
            <a:off x="0" y="0"/>
            <a:ext cx="6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51"/>
          <p:cNvSpPr txBox="1"/>
          <p:nvPr/>
        </p:nvSpPr>
        <p:spPr>
          <a:xfrm>
            <a:off x="456900" y="2955975"/>
            <a:ext cx="75732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@Override</a:t>
            </a:r>
            <a:endParaRPr sz="1000">
              <a:solidFill>
                <a:srgbClr val="64646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UserDetails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loadUserByUsername(String </a:t>
            </a:r>
            <a:r>
              <a:rPr lang="en" sz="1000" u="sng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userRepository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.findByUsername(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	.map(user -&gt;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User(user.getUsername(), user.getPassword(),user.getRoles()))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	.orElseThrow(() -&gt;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UsernameNotFoundException(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"User not found"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72" name="Google Shape;27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3175" y="1569571"/>
            <a:ext cx="4979575" cy="13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2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79" name="Google Shape;279;p5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0" name="Google Shape;280;p52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Password Encoder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Purpose: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Encodes passwords securely (hashing + salt).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Ensures plain passwords are </a:t>
            </a:r>
            <a:r>
              <a:rPr b="1" lang="en" sz="1100">
                <a:solidFill>
                  <a:schemeClr val="dk1"/>
                </a:solidFill>
              </a:rPr>
              <a:t>never stored in DB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Works during login validation and password storage.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Example: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81" name="Google Shape;281;p52"/>
          <p:cNvSpPr txBox="1"/>
          <p:nvPr/>
        </p:nvSpPr>
        <p:spPr>
          <a:xfrm>
            <a:off x="0" y="0"/>
            <a:ext cx="6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52"/>
          <p:cNvSpPr txBox="1"/>
          <p:nvPr/>
        </p:nvSpPr>
        <p:spPr>
          <a:xfrm>
            <a:off x="484600" y="3329800"/>
            <a:ext cx="7573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Bean</a:t>
            </a:r>
            <a:endParaRPr sz="1000" u="sng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PasswordEncoder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passwordEncoder()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BCryptPasswordEncoder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3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89" name="Google Shape;289;p5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0" name="Google Shape;290;p53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Spring Security Flow</a:t>
            </a:r>
            <a:endParaRPr b="1" sz="11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Client</a:t>
            </a:r>
            <a:r>
              <a:rPr lang="en" sz="1300">
                <a:solidFill>
                  <a:schemeClr val="dk1"/>
                </a:solidFill>
              </a:rPr>
              <a:t> sends request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SecurityFilterChain</a:t>
            </a:r>
            <a:r>
              <a:rPr lang="en" sz="1300">
                <a:solidFill>
                  <a:schemeClr val="dk1"/>
                </a:solidFill>
              </a:rPr>
              <a:t> intercepts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AuthenticationManager</a:t>
            </a:r>
            <a:r>
              <a:rPr lang="en" sz="1300">
                <a:solidFill>
                  <a:schemeClr val="dk1"/>
                </a:solidFill>
              </a:rPr>
              <a:t> validates credentials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AuthenticationProvider</a:t>
            </a:r>
            <a:r>
              <a:rPr lang="en" sz="1300">
                <a:solidFill>
                  <a:schemeClr val="dk1"/>
                </a:solidFill>
              </a:rPr>
              <a:t> checks password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UserDetailsService</a:t>
            </a:r>
            <a:r>
              <a:rPr lang="en" sz="1300">
                <a:solidFill>
                  <a:schemeClr val="dk1"/>
                </a:solidFill>
              </a:rPr>
              <a:t> loads user info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SecurityContext</a:t>
            </a:r>
            <a:r>
              <a:rPr lang="en" sz="1300">
                <a:solidFill>
                  <a:schemeClr val="dk1"/>
                </a:solidFill>
              </a:rPr>
              <a:t> holds authentication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Request proceeds to </a:t>
            </a:r>
            <a:r>
              <a:rPr b="1" lang="en" sz="1300">
                <a:solidFill>
                  <a:schemeClr val="dk1"/>
                </a:solidFill>
              </a:rPr>
              <a:t>Controller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91" name="Google Shape;291;p53"/>
          <p:cNvSpPr txBox="1"/>
          <p:nvPr/>
        </p:nvSpPr>
        <p:spPr>
          <a:xfrm>
            <a:off x="0" y="0"/>
            <a:ext cx="6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98" name="Google Shape;298;p5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9" name="Google Shape;299;p54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Spring Security Setup in Spring Boot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1"/>
                </a:solidFill>
              </a:rPr>
              <a:t>Adding Spring Security</a:t>
            </a:r>
            <a:endParaRPr b="1" sz="15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In your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pom.xml</a:t>
            </a:r>
            <a:r>
              <a:rPr lang="en" sz="1100">
                <a:solidFill>
                  <a:schemeClr val="dk1"/>
                </a:solidFill>
              </a:rPr>
              <a:t>, add the </a:t>
            </a:r>
            <a:r>
              <a:rPr b="1" lang="en" sz="1100">
                <a:solidFill>
                  <a:schemeClr val="dk1"/>
                </a:solidFill>
              </a:rPr>
              <a:t>Spring Boot Security starter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93A1A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&lt;!-- Spring Security --&gt;</a:t>
            </a:r>
            <a:endParaRPr sz="1000">
              <a:solidFill>
                <a:srgbClr val="93A1A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lang="en" sz="1000">
                <a:solidFill>
                  <a:srgbClr val="268BD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dependency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000">
                <a:solidFill>
                  <a:srgbClr val="268BD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groupId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&gt;org.springframework.boot&lt;/</a:t>
            </a:r>
            <a:r>
              <a:rPr lang="en" sz="1000">
                <a:solidFill>
                  <a:srgbClr val="268BD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groupId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000">
                <a:solidFill>
                  <a:srgbClr val="268BD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artifactId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&gt;spring-boot-starter-security&lt;/</a:t>
            </a:r>
            <a:r>
              <a:rPr lang="en" sz="1000">
                <a:solidFill>
                  <a:srgbClr val="268BD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artifactId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&lt;/</a:t>
            </a:r>
            <a:r>
              <a:rPr lang="en" sz="1000">
                <a:solidFill>
                  <a:srgbClr val="268BD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dependency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00" name="Google Shape;300;p54"/>
          <p:cNvSpPr txBox="1"/>
          <p:nvPr/>
        </p:nvSpPr>
        <p:spPr>
          <a:xfrm>
            <a:off x="0" y="0"/>
            <a:ext cx="6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5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07" name="Google Shape;307;p55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8" name="Google Shape;308;p55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Default Behavior (After adding spring security dependency)</a:t>
            </a:r>
            <a:endParaRPr b="1" sz="2400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1. All Endpoints Secured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Every HTTP endpoint in your application is </a:t>
            </a:r>
            <a:r>
              <a:rPr b="1" lang="en" sz="1100">
                <a:solidFill>
                  <a:schemeClr val="dk1"/>
                </a:solidFill>
              </a:rPr>
              <a:t>secured by default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Any request requires authentication (login) before it can be accessed.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2. Auto-generated Login Pag</a:t>
            </a:r>
            <a:r>
              <a:rPr b="1" lang="en" sz="1300">
                <a:solidFill>
                  <a:schemeClr val="dk1"/>
                </a:solidFill>
              </a:rPr>
              <a:t>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Spring Boot provides a </a:t>
            </a:r>
            <a:r>
              <a:rPr b="1" lang="en" sz="1100">
                <a:solidFill>
                  <a:schemeClr val="dk1"/>
                </a:solidFill>
              </a:rPr>
              <a:t>default login page</a:t>
            </a:r>
            <a:r>
              <a:rPr lang="en" sz="1100">
                <a:solidFill>
                  <a:schemeClr val="dk1"/>
                </a:solidFill>
              </a:rPr>
              <a:t> automatically.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 need to create any HTML or form for login initially.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Example URL: accessing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http://localhost:8080/hello</a:t>
            </a:r>
            <a:r>
              <a:rPr lang="en" sz="1100">
                <a:solidFill>
                  <a:schemeClr val="dk1"/>
                </a:solidFill>
              </a:rPr>
              <a:t> redirects you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/login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3. Auto-generated User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Spring Boot generates a </a:t>
            </a:r>
            <a:r>
              <a:rPr b="1" lang="en" sz="1100">
                <a:solidFill>
                  <a:schemeClr val="dk1"/>
                </a:solidFill>
              </a:rPr>
              <a:t>random password</a:t>
            </a:r>
            <a:r>
              <a:rPr lang="en" sz="1100">
                <a:solidFill>
                  <a:schemeClr val="dk1"/>
                </a:solidFill>
              </a:rPr>
              <a:t> for a default user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You can find it in the console log on startup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C9211E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09" name="Google Shape;309;p55"/>
          <p:cNvSpPr txBox="1"/>
          <p:nvPr/>
        </p:nvSpPr>
        <p:spPr>
          <a:xfrm>
            <a:off x="0" y="0"/>
            <a:ext cx="6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6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16" name="Google Shape;316;p56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17" name="Google Shape;317;p56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C9211E"/>
                </a:solidFill>
              </a:rPr>
              <a:t>Exercise #1: Add Spring Security to Spring Boot</a:t>
            </a:r>
            <a:endParaRPr b="1" sz="2200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Create a Spring Boot project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Add Spring Security dependency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Create a simple controller</a:t>
            </a:r>
            <a:endParaRPr b="1"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Endpoint:</a:t>
            </a:r>
            <a:r>
              <a:rPr b="1" lang="en" sz="1300">
                <a:solidFill>
                  <a:schemeClr val="dk1"/>
                </a:solidFill>
              </a:rPr>
              <a:t> </a:t>
            </a:r>
            <a:r>
              <a:rPr b="1" lang="en" sz="1300">
                <a:solidFill>
                  <a:srgbClr val="188038"/>
                </a:solidFill>
              </a:rPr>
              <a:t>/dashboard</a:t>
            </a:r>
            <a:endParaRPr b="1" sz="1300">
              <a:solidFill>
                <a:srgbClr val="188038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Return a simple string message.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Access the endpoint in browser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Observe and proceed with the testing based on default behavior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318" name="Google Shape;318;p56"/>
          <p:cNvSpPr txBox="1"/>
          <p:nvPr/>
        </p:nvSpPr>
        <p:spPr>
          <a:xfrm>
            <a:off x="0" y="0"/>
            <a:ext cx="6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7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25" name="Google Shape;325;p57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26" name="Google Shape;326;p57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Customizing Authentication</a:t>
            </a:r>
            <a:endParaRPr b="1" sz="2400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Default Spring Security provides: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300">
                <a:solidFill>
                  <a:schemeClr val="dk1"/>
                </a:solidFill>
              </a:rPr>
              <a:t>Generated user</a:t>
            </a:r>
            <a:endParaRPr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300">
                <a:solidFill>
                  <a:schemeClr val="dk1"/>
                </a:solidFill>
              </a:rPr>
              <a:t>Generated password</a:t>
            </a:r>
            <a:endParaRPr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300">
                <a:solidFill>
                  <a:schemeClr val="dk1"/>
                </a:solidFill>
              </a:rPr>
              <a:t>Default login page</a:t>
            </a:r>
            <a:br>
              <a:rPr b="1" lang="en" sz="1300">
                <a:solidFill>
                  <a:schemeClr val="dk1"/>
                </a:solidFill>
              </a:rPr>
            </a:b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However, real applications require: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300">
                <a:solidFill>
                  <a:schemeClr val="dk1"/>
                </a:solidFill>
              </a:rPr>
              <a:t>Real users</a:t>
            </a:r>
            <a:endParaRPr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300">
                <a:solidFill>
                  <a:schemeClr val="dk1"/>
                </a:solidFill>
              </a:rPr>
              <a:t>Custom passwords</a:t>
            </a:r>
            <a:endParaRPr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300">
                <a:solidFill>
                  <a:schemeClr val="dk1"/>
                </a:solidFill>
              </a:rPr>
              <a:t>Role assignments</a:t>
            </a:r>
            <a:endParaRPr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300">
                <a:solidFill>
                  <a:schemeClr val="dk1"/>
                </a:solidFill>
              </a:rPr>
              <a:t>Secure password storage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327" name="Google Shape;327;p57"/>
          <p:cNvSpPr txBox="1"/>
          <p:nvPr/>
        </p:nvSpPr>
        <p:spPr>
          <a:xfrm>
            <a:off x="0" y="0"/>
            <a:ext cx="6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8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34" name="Google Shape;334;p58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5" name="Google Shape;335;p58"/>
          <p:cNvSpPr/>
          <p:nvPr/>
        </p:nvSpPr>
        <p:spPr>
          <a:xfrm>
            <a:off x="379800" y="923475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Where Authentication Happens</a:t>
            </a:r>
            <a:endParaRPr b="1" sz="2400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336" name="Google Shape;336;p58"/>
          <p:cNvSpPr txBox="1"/>
          <p:nvPr/>
        </p:nvSpPr>
        <p:spPr>
          <a:xfrm>
            <a:off x="0" y="0"/>
            <a:ext cx="6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575" y="1332174"/>
            <a:ext cx="4575849" cy="347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44" name="Google Shape;344;p59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5" name="Google Shape;345;p59"/>
          <p:cNvSpPr/>
          <p:nvPr/>
        </p:nvSpPr>
        <p:spPr>
          <a:xfrm>
            <a:off x="379800" y="923475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Where Authentication Happens</a:t>
            </a:r>
            <a:endParaRPr b="1" sz="2400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346" name="Google Shape;346;p59"/>
          <p:cNvSpPr txBox="1"/>
          <p:nvPr/>
        </p:nvSpPr>
        <p:spPr>
          <a:xfrm>
            <a:off x="0" y="0"/>
            <a:ext cx="6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59"/>
          <p:cNvSpPr txBox="1"/>
          <p:nvPr/>
        </p:nvSpPr>
        <p:spPr>
          <a:xfrm>
            <a:off x="379800" y="1488375"/>
            <a:ext cx="575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Security authenticates users using several components:</a:t>
            </a:r>
            <a:endParaRPr/>
          </a:p>
        </p:txBody>
      </p:sp>
      <p:sp>
        <p:nvSpPr>
          <p:cNvPr id="348" name="Google Shape;348;p59"/>
          <p:cNvSpPr txBox="1"/>
          <p:nvPr/>
        </p:nvSpPr>
        <p:spPr>
          <a:xfrm>
            <a:off x="809925" y="2173700"/>
            <a:ext cx="2270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SecurityFilterChain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	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AuthenticationManager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	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AuthenticationProvider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	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UserDetailsService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55" name="Google Shape;355;p6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6" name="Google Shape;356;p60"/>
          <p:cNvSpPr/>
          <p:nvPr/>
        </p:nvSpPr>
        <p:spPr>
          <a:xfrm>
            <a:off x="379800" y="923475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In-Memory Authentication</a:t>
            </a:r>
            <a:endParaRPr b="1" sz="2400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357" name="Google Shape;357;p60"/>
          <p:cNvSpPr txBox="1"/>
          <p:nvPr/>
        </p:nvSpPr>
        <p:spPr>
          <a:xfrm>
            <a:off x="0" y="0"/>
            <a:ext cx="6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60"/>
          <p:cNvSpPr txBox="1"/>
          <p:nvPr/>
        </p:nvSpPr>
        <p:spPr>
          <a:xfrm>
            <a:off x="379800" y="1488375"/>
            <a:ext cx="575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can be defined directly in configuration.</a:t>
            </a:r>
            <a:endParaRPr/>
          </a:p>
        </p:txBody>
      </p:sp>
      <p:sp>
        <p:nvSpPr>
          <p:cNvPr id="359" name="Google Shape;359;p60"/>
          <p:cNvSpPr txBox="1"/>
          <p:nvPr/>
        </p:nvSpPr>
        <p:spPr>
          <a:xfrm>
            <a:off x="1076875" y="2062925"/>
            <a:ext cx="56418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>
                <a:solidFill>
                  <a:srgbClr val="646464"/>
                </a:solidFill>
                <a:highlight>
                  <a:srgbClr val="D4D4D4"/>
                </a:highlight>
                <a:latin typeface="Courier New"/>
                <a:ea typeface="Courier New"/>
                <a:cs typeface="Courier New"/>
                <a:sym typeface="Courier New"/>
              </a:rPr>
              <a:t>Bean</a:t>
            </a:r>
            <a:endParaRPr sz="1000">
              <a:solidFill>
                <a:srgbClr val="646464"/>
              </a:solidFill>
              <a:highlight>
                <a:srgbClr val="D4D4D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InMemoryUserDetailsManager userDetailsService()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UserDetails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User.</a:t>
            </a:r>
            <a:r>
              <a:rPr i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withUsername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"user"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.password(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"{noop}password"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.roles(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"USER"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.build();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UserDetails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admin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User.</a:t>
            </a:r>
            <a:r>
              <a:rPr i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withUsername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"admin"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 .password(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"{noop}password"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 .roles(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"ADMIN"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 .build();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InMemoryUserDetailsManager(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admin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1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66" name="Google Shape;366;p6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67" name="Google Shape;367;p61"/>
          <p:cNvSpPr/>
          <p:nvPr/>
        </p:nvSpPr>
        <p:spPr>
          <a:xfrm>
            <a:off x="379800" y="923475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Exercise #2: Apply In-Memory Authentication</a:t>
            </a:r>
            <a:endParaRPr b="1" sz="2400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368" name="Google Shape;368;p61"/>
          <p:cNvSpPr txBox="1"/>
          <p:nvPr/>
        </p:nvSpPr>
        <p:spPr>
          <a:xfrm>
            <a:off x="0" y="0"/>
            <a:ext cx="6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61"/>
          <p:cNvSpPr txBox="1"/>
          <p:nvPr/>
        </p:nvSpPr>
        <p:spPr>
          <a:xfrm>
            <a:off x="643800" y="1592200"/>
            <a:ext cx="49704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Objective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Replace Spring Boot’s default generated user.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Configure mult</a:t>
            </a:r>
            <a:r>
              <a:rPr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ple users in memory.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Test authentication with usernames, passwords, and roles.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2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76" name="Google Shape;376;p6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77" name="Google Shape;377;p62"/>
          <p:cNvSpPr/>
          <p:nvPr/>
        </p:nvSpPr>
        <p:spPr>
          <a:xfrm>
            <a:off x="379800" y="923475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Password Encoding</a:t>
            </a:r>
            <a:endParaRPr b="1" sz="2400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378" name="Google Shape;378;p62"/>
          <p:cNvSpPr txBox="1"/>
          <p:nvPr/>
        </p:nvSpPr>
        <p:spPr>
          <a:xfrm>
            <a:off x="0" y="0"/>
            <a:ext cx="6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62"/>
          <p:cNvSpPr txBox="1"/>
          <p:nvPr/>
        </p:nvSpPr>
        <p:spPr>
          <a:xfrm>
            <a:off x="379800" y="1488375"/>
            <a:ext cx="57597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Never store plain-text passwords</a:t>
            </a:r>
            <a:r>
              <a:rPr lang="en" sz="1200">
                <a:solidFill>
                  <a:schemeClr val="dk1"/>
                </a:solidFill>
              </a:rPr>
              <a:t> in your application.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Spring Security supports </a:t>
            </a:r>
            <a:r>
              <a:rPr b="1" lang="en" sz="1200">
                <a:solidFill>
                  <a:schemeClr val="dk1"/>
                </a:solidFill>
              </a:rPr>
              <a:t>multiple password encoders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Recommended for most applications: </a:t>
            </a:r>
            <a:r>
              <a:rPr b="1" lang="en" sz="1200">
                <a:solidFill>
                  <a:schemeClr val="dk1"/>
                </a:solidFill>
              </a:rPr>
              <a:t>BCryptPasswordEncoder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Example usage with </a:t>
            </a:r>
            <a:r>
              <a:rPr b="1" lang="en" sz="1200">
                <a:solidFill>
                  <a:schemeClr val="dk1"/>
                </a:solidFill>
              </a:rPr>
              <a:t>in-memory users</a:t>
            </a:r>
            <a:r>
              <a:rPr lang="en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80" name="Google Shape;380;p62"/>
          <p:cNvSpPr txBox="1"/>
          <p:nvPr/>
        </p:nvSpPr>
        <p:spPr>
          <a:xfrm>
            <a:off x="920700" y="2436775"/>
            <a:ext cx="72342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@Bean</a:t>
            </a:r>
            <a:endParaRPr sz="1000">
              <a:solidFill>
                <a:srgbClr val="64646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InMemoryUserDetailsManager userDetailsService()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UserDetails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User.</a:t>
            </a:r>
            <a:r>
              <a:rPr i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withUsername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"user"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.password(passwordEncoder().encode(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"password"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.roles(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"USER"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.build();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InMemoryUserDetailsManager(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@Bean</a:t>
            </a:r>
            <a:endParaRPr sz="1000">
              <a:solidFill>
                <a:srgbClr val="64646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PasswordEncoder passwordEncoder()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BCryptPasswordEncoder();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3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87" name="Google Shape;387;p6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88" name="Google Shape;388;p63"/>
          <p:cNvSpPr/>
          <p:nvPr/>
        </p:nvSpPr>
        <p:spPr>
          <a:xfrm>
            <a:off x="379800" y="923475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What is Bcrypt?</a:t>
            </a:r>
            <a:endParaRPr b="1" sz="2400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389" name="Google Shape;389;p63"/>
          <p:cNvSpPr txBox="1"/>
          <p:nvPr/>
        </p:nvSpPr>
        <p:spPr>
          <a:xfrm>
            <a:off x="0" y="0"/>
            <a:ext cx="6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63"/>
          <p:cNvSpPr txBox="1"/>
          <p:nvPr/>
        </p:nvSpPr>
        <p:spPr>
          <a:xfrm>
            <a:off x="706100" y="1495275"/>
            <a:ext cx="7220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BCrypt is a </a:t>
            </a:r>
            <a:r>
              <a:rPr b="1" lang="en" sz="1300">
                <a:solidFill>
                  <a:schemeClr val="dk1"/>
                </a:solidFill>
              </a:rPr>
              <a:t>secure way to store passwords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Instead of saving passwords in plain text, it </a:t>
            </a:r>
            <a:r>
              <a:rPr b="1" lang="en" sz="1300">
                <a:solidFill>
                  <a:schemeClr val="dk1"/>
                </a:solidFill>
              </a:rPr>
              <a:t>converts them into a scrambled hash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Even if someone steals your database, they </a:t>
            </a:r>
            <a:r>
              <a:rPr b="1" lang="en" sz="1300">
                <a:solidFill>
                  <a:schemeClr val="dk1"/>
                </a:solidFill>
              </a:rPr>
              <a:t>cannot see the original passwords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91" name="Google Shape;391;p63"/>
          <p:cNvSpPr txBox="1"/>
          <p:nvPr/>
        </p:nvSpPr>
        <p:spPr>
          <a:xfrm>
            <a:off x="422300" y="23537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1"/>
                </a:solidFill>
              </a:rPr>
              <a:t>Why Use BCrypt?</a:t>
            </a:r>
            <a:endParaRPr u="sng"/>
          </a:p>
        </p:txBody>
      </p:sp>
      <p:sp>
        <p:nvSpPr>
          <p:cNvPr id="392" name="Google Shape;392;p63"/>
          <p:cNvSpPr txBox="1"/>
          <p:nvPr/>
        </p:nvSpPr>
        <p:spPr>
          <a:xfrm>
            <a:off x="553800" y="2845200"/>
            <a:ext cx="70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Hashing</a:t>
            </a:r>
            <a:r>
              <a:rPr lang="en" sz="1300">
                <a:solidFill>
                  <a:schemeClr val="dk1"/>
                </a:solidFill>
              </a:rPr>
              <a:t> – Turns your password into a fixed-length string that looks random:</a:t>
            </a:r>
            <a:endParaRPr sz="1300"/>
          </a:p>
        </p:txBody>
      </p:sp>
      <p:sp>
        <p:nvSpPr>
          <p:cNvPr id="393" name="Google Shape;393;p63"/>
          <p:cNvSpPr txBox="1"/>
          <p:nvPr/>
        </p:nvSpPr>
        <p:spPr>
          <a:xfrm>
            <a:off x="1377598" y="3215939"/>
            <a:ext cx="792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password123 → $2a$10$E9eN1YfzjQ1uYlXw5p1lEe1hX0jlQ9m6QxyHfP3w0O4gYY9H6yB6K</a:t>
            </a:r>
            <a:endParaRPr sz="1100"/>
          </a:p>
        </p:txBody>
      </p:sp>
      <p:sp>
        <p:nvSpPr>
          <p:cNvPr id="394" name="Google Shape;394;p63"/>
          <p:cNvSpPr txBox="1"/>
          <p:nvPr/>
        </p:nvSpPr>
        <p:spPr>
          <a:xfrm>
            <a:off x="636874" y="3558225"/>
            <a:ext cx="61059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2.	</a:t>
            </a:r>
            <a:r>
              <a:rPr b="1" lang="en" sz="1300">
                <a:solidFill>
                  <a:schemeClr val="dk1"/>
                </a:solidFill>
              </a:rPr>
              <a:t>Salting</a:t>
            </a:r>
            <a:r>
              <a:rPr lang="en" sz="1300">
                <a:solidFill>
                  <a:schemeClr val="dk1"/>
                </a:solidFill>
              </a:rPr>
              <a:t> – Adds random data to every password hash: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Two users with the same password will have </a:t>
            </a:r>
            <a:r>
              <a:rPr b="1" lang="en" sz="1300">
                <a:solidFill>
                  <a:schemeClr val="dk1"/>
                </a:solidFill>
              </a:rPr>
              <a:t>different hashes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3.	</a:t>
            </a:r>
            <a:r>
              <a:rPr b="1" lang="en" sz="1300">
                <a:solidFill>
                  <a:schemeClr val="dk1"/>
                </a:solidFill>
              </a:rPr>
              <a:t>Slow hashing</a:t>
            </a:r>
            <a:r>
              <a:rPr lang="en" sz="1300">
                <a:solidFill>
                  <a:schemeClr val="dk1"/>
                </a:solidFill>
              </a:rPr>
              <a:t> – Makes brute-force attacks </a:t>
            </a:r>
            <a:r>
              <a:rPr b="1" lang="en" sz="1300">
                <a:solidFill>
                  <a:schemeClr val="dk1"/>
                </a:solidFill>
              </a:rPr>
              <a:t>much harder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01" name="Google Shape;401;p6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02" name="Google Shape;402;p64"/>
          <p:cNvSpPr/>
          <p:nvPr/>
        </p:nvSpPr>
        <p:spPr>
          <a:xfrm>
            <a:off x="379800" y="923475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Exercise #3: Apply Password Encoder (BCrypt)</a:t>
            </a:r>
            <a:endParaRPr b="1" sz="2400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403" name="Google Shape;403;p64"/>
          <p:cNvSpPr txBox="1"/>
          <p:nvPr/>
        </p:nvSpPr>
        <p:spPr>
          <a:xfrm>
            <a:off x="0" y="0"/>
            <a:ext cx="6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64"/>
          <p:cNvSpPr txBox="1"/>
          <p:nvPr/>
        </p:nvSpPr>
        <p:spPr>
          <a:xfrm>
            <a:off x="830725" y="1606050"/>
            <a:ext cx="7164900" cy="13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Objective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Learn how to </a:t>
            </a:r>
            <a:r>
              <a:rPr b="1" lang="en" sz="1200">
                <a:solidFill>
                  <a:schemeClr val="dk1"/>
                </a:solidFill>
              </a:rPr>
              <a:t>encode passwords</a:t>
            </a:r>
            <a:r>
              <a:rPr lang="en" sz="1200">
                <a:solidFill>
                  <a:schemeClr val="dk1"/>
                </a:solidFill>
              </a:rPr>
              <a:t> for security.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Replace </a:t>
            </a:r>
            <a:r>
              <a:rPr lang="en" sz="1200">
                <a:solidFill>
                  <a:srgbClr val="188038"/>
                </a:solidFill>
              </a:rPr>
              <a:t>{noop}</a:t>
            </a:r>
            <a:r>
              <a:rPr lang="en" sz="1200">
                <a:solidFill>
                  <a:schemeClr val="dk1"/>
                </a:solidFill>
              </a:rPr>
              <a:t> passwords with </a:t>
            </a:r>
            <a:r>
              <a:rPr b="1" lang="en" sz="1200">
                <a:solidFill>
                  <a:schemeClr val="dk1"/>
                </a:solidFill>
              </a:rPr>
              <a:t>hashed passwords</a:t>
            </a:r>
            <a:r>
              <a:rPr lang="en" sz="1200">
                <a:solidFill>
                  <a:schemeClr val="dk1"/>
                </a:solidFill>
              </a:rPr>
              <a:t> using </a:t>
            </a:r>
            <a:r>
              <a:rPr b="1" lang="en" sz="1200">
                <a:solidFill>
                  <a:srgbClr val="188038"/>
                </a:solidFill>
              </a:rPr>
              <a:t>BCryptPasswordEncoder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Ensure authentication works with encoded passwords.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5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Basics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11" name="Google Shape;411;p65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12" name="Google Shape;412;p65"/>
          <p:cNvSpPr/>
          <p:nvPr/>
        </p:nvSpPr>
        <p:spPr>
          <a:xfrm>
            <a:off x="379800" y="923475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Types of Authentication in Spring Security</a:t>
            </a:r>
            <a:endParaRPr b="1" sz="2400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413" name="Google Shape;413;p65"/>
          <p:cNvSpPr txBox="1"/>
          <p:nvPr/>
        </p:nvSpPr>
        <p:spPr>
          <a:xfrm>
            <a:off x="0" y="0"/>
            <a:ext cx="6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14" name="Google Shape;414;p65"/>
          <p:cNvGraphicFramePr/>
          <p:nvPr/>
        </p:nvGraphicFramePr>
        <p:xfrm>
          <a:off x="754650" y="143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{3CC44CE5-622F-461E-9F37-ECF6465D7F2D}</a:tableStyleId>
              </a:tblPr>
              <a:tblGrid>
                <a:gridCol w="2200325"/>
                <a:gridCol w="2874475"/>
                <a:gridCol w="2134825"/>
              </a:tblGrid>
              <a:tr h="279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Type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Description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When to Use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5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Form-Based Login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Login page with username/password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Web applications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5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HTTP Basic Auth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Username/password in HTTP header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APIs / testing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9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HTTP Digest Auth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Hash of credentials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Legacy systems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5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LDAP Authentication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Connects to LDAP server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Enterprise users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5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OAuth2 / OpenID Connect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External provider (Google, Facebook)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Social login, SSO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5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JWT Token Auth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Stateless API authentication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REST APIs &amp; Microservices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5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Certificate / Mutual TLS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Client certificates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High-security systems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