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5143500" cx="9144000"/>
  <p:notesSz cx="6858000" cy="9144000"/>
  <p:embeddedFontLst>
    <p:embeddedFont>
      <p:font typeface="IBM Plex Sans"/>
      <p:regular r:id="rId25"/>
      <p:bold r:id="rId26"/>
      <p:italic r:id="rId27"/>
      <p:boldItalic r:id="rId28"/>
    </p:embeddedFont>
    <p:embeddedFont>
      <p:font typeface="Arial Black"/>
      <p:regular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F98BC0-2370-48DA-8715-67E2129C4647}">
  <a:tblStyle styleId="{F0F98BC0-2370-48DA-8715-67E2129C46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ArialBlack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3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2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f4d221f3d_0_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cf4d221f3d_0_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f4d221f3d_0_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731a4aa0_0_1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ce731a4aa0_0_1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ce731a4aa0_0_1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f4d221f3d_0_1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cf4d221f3d_0_1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cf4d221f3d_0_1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78e68857d_0_1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d78e68857d_0_1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78e68857d_0_1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78e68857d_0_3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d78e68857d_0_3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78e68857d_0_3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78e68857d_0_6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78e68857d_0_6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78e68857d_0_6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78e68857d_0_8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d78e68857d_0_8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78e68857d_0_8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78e68857d_0_13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g3d78e68857d_0_13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d78e68857d_0_13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78e68857d_0_15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d78e68857d_0_15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d78e68857d_0_15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78e68857d_0_17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d78e68857d_0_17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78e68857d_0_17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78e68857d_0_19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d78e68857d_0_19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78e68857d_0_19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78e68857d_0_21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3d78e68857d_0_21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78e68857d_0_21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78e68857d_0_22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g3d78e68857d_0_22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78e68857d_0_22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78e68857d_0_24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3d78e68857d_0_24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d78e68857d_0_24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9: Spring Security Basics</a:t>
            </a:r>
            <a:b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(Day 3)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Day 3 </a:t>
            </a:r>
            <a:r>
              <a:rPr b="1" lang="en" sz="4000">
                <a:solidFill>
                  <a:srgbClr val="C9211E"/>
                </a:solidFill>
              </a:rPr>
              <a:t>—</a:t>
            </a:r>
            <a:r>
              <a:rPr b="1" lang="en" sz="4000">
                <a:solidFill>
                  <a:srgbClr val="C9211E"/>
                </a:solidFill>
              </a:rPr>
              <a:t> Security Context, Exception Handling and Best Practices</a:t>
            </a:r>
            <a:endParaRPr b="1" sz="4000">
              <a:solidFill>
                <a:srgbClr val="C9211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4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 from Day 2 Session</a:t>
            </a:r>
            <a:endParaRPr b="1"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Authorization (Purpose, Roles and Where roles come from)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URL-Based authorization and Method-level authorization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@PreAuthorize, @Secured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Customizi</a:t>
            </a:r>
            <a:r>
              <a:rPr lang="en" sz="1300">
                <a:solidFill>
                  <a:schemeClr val="dk1"/>
                </a:solidFill>
              </a:rPr>
              <a:t>ng</a:t>
            </a:r>
            <a:r>
              <a:rPr lang="en" sz="1300">
                <a:solidFill>
                  <a:schemeClr val="dk1"/>
                </a:solidFill>
              </a:rPr>
              <a:t> UserDetailsService and DaoAuthenticationProvider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Database Authentication and Authorization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2" name="Google Shape;192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3" name="Google Shape;193;p4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</a:t>
            </a: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Objectives:</a:t>
            </a:r>
            <a:endParaRPr b="1"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Understand the Security Context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Handle Security Exceptions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Apply best practices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Context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0" name="Google Shape;200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1" name="Google Shape;201;p4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Security Context: What is it?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Purpose:</a:t>
            </a:r>
            <a:r>
              <a:rPr lang="en" sz="1300">
                <a:solidFill>
                  <a:schemeClr val="dk1"/>
                </a:solidFill>
              </a:rPr>
              <a:t> Stores the </a:t>
            </a:r>
            <a:r>
              <a:rPr b="1" lang="en" sz="1300">
                <a:solidFill>
                  <a:schemeClr val="dk1"/>
                </a:solidFill>
              </a:rPr>
              <a:t>currently authenticated user</a:t>
            </a:r>
            <a:r>
              <a:rPr lang="en" sz="1300">
                <a:solidFill>
                  <a:schemeClr val="dk1"/>
                </a:solidFill>
              </a:rPr>
              <a:t> and authorities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Stored in: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SecurityContextHolder</a:t>
            </a:r>
            <a:r>
              <a:rPr lang="en" sz="1300">
                <a:solidFill>
                  <a:schemeClr val="dk1"/>
                </a:solidFill>
              </a:rPr>
              <a:t> (per thread by default)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Contains an Authentication object:</a:t>
            </a:r>
            <a:endParaRPr sz="13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principal</a:t>
            </a:r>
            <a:r>
              <a:rPr lang="en" sz="1300">
                <a:solidFill>
                  <a:schemeClr val="dk1"/>
                </a:solidFill>
              </a:rPr>
              <a:t> → user identity (username or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authorities</a:t>
            </a:r>
            <a:r>
              <a:rPr lang="en" sz="1300">
                <a:solidFill>
                  <a:schemeClr val="dk1"/>
                </a:solidFill>
              </a:rPr>
              <a:t> → roles/permissions</a:t>
            </a:r>
            <a:endParaRPr sz="13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credentials</a:t>
            </a:r>
            <a:r>
              <a:rPr lang="en" sz="1300">
                <a:solidFill>
                  <a:schemeClr val="dk1"/>
                </a:solidFill>
              </a:rPr>
              <a:t> → usually cleared after authentication</a:t>
            </a:r>
            <a:endParaRPr sz="13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authenticated</a:t>
            </a:r>
            <a:r>
              <a:rPr lang="en" sz="1300">
                <a:solidFill>
                  <a:schemeClr val="dk1"/>
                </a:solidFill>
              </a:rPr>
              <a:t> → boolean flag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	Flow: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3"/>
          <p:cNvSpPr txBox="1"/>
          <p:nvPr/>
        </p:nvSpPr>
        <p:spPr>
          <a:xfrm>
            <a:off x="865350" y="3710550"/>
            <a:ext cx="765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SecurityContextHolder → SecurityContext → Authentication → Principal + Authorities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Context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9" name="Google Shape;209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0" name="Google Shape;210;p4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Accessing Current User (Option 1: SecurityContextHolder)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SecurityContextHolder</a:t>
            </a:r>
            <a:r>
              <a:rPr lang="en" sz="1100">
                <a:solidFill>
                  <a:schemeClr val="dk1"/>
                </a:solidFill>
              </a:rPr>
              <a:t> stores the </a:t>
            </a:r>
            <a:r>
              <a:rPr b="1" lang="en" sz="1100">
                <a:solidFill>
                  <a:schemeClr val="dk1"/>
                </a:solidFill>
              </a:rPr>
              <a:t>SecurityContext</a:t>
            </a:r>
            <a:r>
              <a:rPr lang="en" sz="1100">
                <a:solidFill>
                  <a:schemeClr val="dk1"/>
                </a:solidFill>
              </a:rPr>
              <a:t> for the current thread.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SecurityContext</a:t>
            </a:r>
            <a:r>
              <a:rPr lang="en" sz="1100">
                <a:solidFill>
                  <a:schemeClr val="dk1"/>
                </a:solidFill>
              </a:rPr>
              <a:t> contains the </a:t>
            </a:r>
            <a:r>
              <a:rPr b="1" lang="en" sz="1100">
                <a:solidFill>
                  <a:schemeClr val="dk1"/>
                </a:solidFill>
              </a:rPr>
              <a:t>Authentication object</a:t>
            </a:r>
            <a:r>
              <a:rPr lang="en" sz="1100">
                <a:solidFill>
                  <a:schemeClr val="dk1"/>
                </a:solidFill>
              </a:rPr>
              <a:t>, representing the current user.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auth.getPrincipal()</a:t>
            </a:r>
            <a:r>
              <a:rPr lang="en" sz="1100">
                <a:solidFill>
                  <a:schemeClr val="dk1"/>
                </a:solidFill>
              </a:rPr>
              <a:t> usually returns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UserDetails</a:t>
            </a:r>
            <a:r>
              <a:rPr lang="en" sz="1100">
                <a:solidFill>
                  <a:schemeClr val="dk1"/>
                </a:solidFill>
              </a:rPr>
              <a:t> object, or a username string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if not using a custom user.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auth.getAuthorities()</a:t>
            </a:r>
            <a:r>
              <a:rPr lang="en" sz="1100">
                <a:solidFill>
                  <a:schemeClr val="dk1"/>
                </a:solidFill>
              </a:rPr>
              <a:t> gives the </a:t>
            </a:r>
            <a:r>
              <a:rPr b="1" lang="en" sz="1100">
                <a:solidFill>
                  <a:schemeClr val="dk1"/>
                </a:solidFill>
              </a:rPr>
              <a:t>roles/permissions</a:t>
            </a:r>
            <a:r>
              <a:rPr lang="en" sz="1100">
                <a:solidFill>
                  <a:schemeClr val="dk1"/>
                </a:solidFill>
              </a:rPr>
              <a:t> for the user.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4"/>
          <p:cNvSpPr txBox="1"/>
          <p:nvPr/>
        </p:nvSpPr>
        <p:spPr>
          <a:xfrm>
            <a:off x="726875" y="1723750"/>
            <a:ext cx="77742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SecurityContextHolder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.getContext().getAuthentication();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&amp;&amp;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.isAuthenticated())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.getName();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Object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principal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.getPrincipal();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Collection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&lt;?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GrantedAuthority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.getAuthorities();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44"/>
          <p:cNvSpPr txBox="1"/>
          <p:nvPr/>
        </p:nvSpPr>
        <p:spPr>
          <a:xfrm>
            <a:off x="556950" y="4208300"/>
            <a:ext cx="305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Pros:</a:t>
            </a:r>
            <a:r>
              <a:rPr lang="en" sz="1100">
                <a:solidFill>
                  <a:schemeClr val="dk1"/>
                </a:solidFill>
              </a:rPr>
              <a:t> Works anywhere in your app</a:t>
            </a:r>
            <a:endParaRPr/>
          </a:p>
        </p:txBody>
      </p:sp>
      <p:sp>
        <p:nvSpPr>
          <p:cNvPr id="213" name="Google Shape;213;p44"/>
          <p:cNvSpPr txBox="1"/>
          <p:nvPr/>
        </p:nvSpPr>
        <p:spPr>
          <a:xfrm>
            <a:off x="556950" y="4465500"/>
            <a:ext cx="803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Important:</a:t>
            </a:r>
            <a:r>
              <a:rPr lang="en" sz="1100">
                <a:solidFill>
                  <a:schemeClr val="dk1"/>
                </a:solidFill>
              </a:rPr>
              <a:t> Always check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 != null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auth.isAuthenticated()</a:t>
            </a:r>
            <a:r>
              <a:rPr lang="en" sz="1100">
                <a:solidFill>
                  <a:schemeClr val="dk1"/>
                </a:solidFill>
              </a:rPr>
              <a:t> to avoid null pointers or anonymous users.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Context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0" name="Google Shape;220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1" name="Google Shape;221;p4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Accessing Current User (Option 2 &amp; 3)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5"/>
          <p:cNvSpPr txBox="1"/>
          <p:nvPr/>
        </p:nvSpPr>
        <p:spPr>
          <a:xfrm>
            <a:off x="376100" y="1689125"/>
            <a:ext cx="652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Option 2 —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@AuthenticationPrincipal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2"/>
                </a:solidFill>
              </a:rPr>
              <a:t>(Controller Injection):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23" name="Google Shape;223;p45"/>
          <p:cNvSpPr txBox="1"/>
          <p:nvPr/>
        </p:nvSpPr>
        <p:spPr>
          <a:xfrm>
            <a:off x="657650" y="2136900"/>
            <a:ext cx="6659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"/profile"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profile(</a:t>
            </a: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AuthenticationPrincipal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UserDetails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"Hello, 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.getUsername();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p45"/>
          <p:cNvSpPr txBox="1"/>
          <p:nvPr/>
        </p:nvSpPr>
        <p:spPr>
          <a:xfrm>
            <a:off x="379350" y="3172550"/>
            <a:ext cx="492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Option 3 —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Principal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accent1"/>
                </a:solidFill>
              </a:rPr>
              <a:t>(Simple Username):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225" name="Google Shape;225;p45"/>
          <p:cNvSpPr txBox="1"/>
          <p:nvPr/>
        </p:nvSpPr>
        <p:spPr>
          <a:xfrm>
            <a:off x="657650" y="3689750"/>
            <a:ext cx="6064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GetMapping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"/hello"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String hello(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Principal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principal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"Hello, 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principal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.getName();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6" name="Google Shape;226;p45"/>
          <p:cNvSpPr txBox="1"/>
          <p:nvPr/>
        </p:nvSpPr>
        <p:spPr>
          <a:xfrm>
            <a:off x="4347425" y="3265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 Cases:</a:t>
            </a:r>
            <a:endParaRPr/>
          </a:p>
        </p:txBody>
      </p:sp>
      <p:sp>
        <p:nvSpPr>
          <p:cNvPr id="227" name="Google Shape;227;p45"/>
          <p:cNvSpPr txBox="1"/>
          <p:nvPr/>
        </p:nvSpPr>
        <p:spPr>
          <a:xfrm>
            <a:off x="4388925" y="3585150"/>
            <a:ext cx="441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Option 2 → returning </a:t>
            </a:r>
            <a:r>
              <a:rPr b="1" lang="en" sz="1100">
                <a:solidFill>
                  <a:schemeClr val="dk1"/>
                </a:solidFill>
              </a:rPr>
              <a:t>user profile info</a:t>
            </a:r>
            <a:r>
              <a:rPr lang="en" sz="1100">
                <a:solidFill>
                  <a:schemeClr val="dk1"/>
                </a:solidFill>
              </a:rPr>
              <a:t> including roles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Option 3 → simple greeting or logging username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Context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4" name="Google Shape;234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5" name="Google Shape;235;p4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46"/>
          <p:cNvGraphicFramePr/>
          <p:nvPr/>
        </p:nvGraphicFramePr>
        <p:xfrm>
          <a:off x="567600" y="193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{F0F98BC0-2370-48DA-8715-67E2129C4647}</a:tableStyleId>
              </a:tblPr>
              <a:tblGrid>
                <a:gridCol w="1130425"/>
                <a:gridCol w="3172500"/>
                <a:gridCol w="2356925"/>
                <a:gridCol w="13382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SecurityContextHolder</a:t>
                      </a:r>
                      <a:endParaRPr b="1"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@AuthenticationPrincipal</a:t>
                      </a:r>
                      <a:endParaRPr b="1"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Principal</a:t>
                      </a:r>
                      <a:endParaRPr b="1"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Scope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Anywhere (services/controllers)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Controllers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Controllers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 Authentication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UserDetails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Username only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Available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Available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directly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Complexity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Slightly more code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Cleaner in controllers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simple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7" name="Google Shape;237;p46"/>
          <p:cNvSpPr txBox="1"/>
          <p:nvPr/>
        </p:nvSpPr>
        <p:spPr>
          <a:xfrm>
            <a:off x="484575" y="1208163"/>
            <a:ext cx="582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Accessing Current User (Comparison Table)</a:t>
            </a:r>
            <a:endParaRPr b="1" sz="2000" u="sng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Handling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4" name="Google Shape;244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5" name="Google Shape;245;p4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7"/>
          <p:cNvSpPr txBox="1"/>
          <p:nvPr/>
        </p:nvSpPr>
        <p:spPr>
          <a:xfrm>
            <a:off x="484575" y="1208163"/>
            <a:ext cx="582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Exception Handling in Spring Security</a:t>
            </a:r>
            <a:endParaRPr b="1" sz="2000" u="sng">
              <a:solidFill>
                <a:srgbClr val="C9211E"/>
              </a:solidFill>
            </a:endParaRPr>
          </a:p>
        </p:txBody>
      </p:sp>
      <p:sp>
        <p:nvSpPr>
          <p:cNvPr id="247" name="Google Shape;247;p47"/>
          <p:cNvSpPr txBox="1"/>
          <p:nvPr/>
        </p:nvSpPr>
        <p:spPr>
          <a:xfrm>
            <a:off x="678400" y="1786025"/>
            <a:ext cx="61542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Handle security failures gracefully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Provide meaningful responses to clients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8" name="Google Shape;248;p47"/>
          <p:cNvSpPr txBox="1"/>
          <p:nvPr/>
        </p:nvSpPr>
        <p:spPr>
          <a:xfrm>
            <a:off x="678400" y="28702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Two main types of exceptions:</a:t>
            </a:r>
            <a:endParaRPr sz="1300"/>
          </a:p>
        </p:txBody>
      </p:sp>
      <p:graphicFrame>
        <p:nvGraphicFramePr>
          <p:cNvPr id="249" name="Google Shape;249;p47"/>
          <p:cNvGraphicFramePr/>
          <p:nvPr/>
        </p:nvGraphicFramePr>
        <p:xfrm>
          <a:off x="796150" y="333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{F0F98BC0-2370-48DA-8715-67E2129C4647}</a:tableStyleId>
              </a:tblPr>
              <a:tblGrid>
                <a:gridCol w="2326050"/>
                <a:gridCol w="2769125"/>
                <a:gridCol w="2865875"/>
              </a:tblGrid>
              <a:tr h="29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Exception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Trigger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Default HTTP Response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AuthenticationException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Unauthenticated access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401 Unauthorized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AccessDeniedException</a:t>
                      </a:r>
                      <a:endParaRPr sz="1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Authenticated but unauthorized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403 Forbidden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Handling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6" name="Google Shape;256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7" name="Google Shape;257;p4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8"/>
          <p:cNvSpPr txBox="1"/>
          <p:nvPr/>
        </p:nvSpPr>
        <p:spPr>
          <a:xfrm>
            <a:off x="484575" y="1208163"/>
            <a:ext cx="582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AccessDeniedException</a:t>
            </a:r>
            <a:endParaRPr b="1" sz="2000" u="sng">
              <a:solidFill>
                <a:srgbClr val="C9211E"/>
              </a:solidFill>
            </a:endParaRPr>
          </a:p>
        </p:txBody>
      </p:sp>
      <p:sp>
        <p:nvSpPr>
          <p:cNvPr id="259" name="Google Shape;259;p48"/>
          <p:cNvSpPr txBox="1"/>
          <p:nvPr/>
        </p:nvSpPr>
        <p:spPr>
          <a:xfrm>
            <a:off x="443025" y="1786025"/>
            <a:ext cx="7158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Triggered when an </a:t>
            </a:r>
            <a:r>
              <a:rPr b="1" lang="en" sz="1300">
                <a:solidFill>
                  <a:schemeClr val="dk1"/>
                </a:solidFill>
              </a:rPr>
              <a:t>authenticated user tries to access a forbidden resource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Examples: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User with ROLE_USER accessing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/admin/**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Method-level security: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@PreAuthorize("hasRole('ADMIN')")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0" name="Google Shape;260;p48"/>
          <p:cNvSpPr txBox="1"/>
          <p:nvPr/>
        </p:nvSpPr>
        <p:spPr>
          <a:xfrm>
            <a:off x="955325" y="3032075"/>
            <a:ext cx="50328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Default Behavior: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Returns 403 Forbidden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Browser: shows a default error page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REST API: default response is HTML, not JSON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Handling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7" name="Google Shape;267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8" name="Google Shape;268;p4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9"/>
          <p:cNvSpPr txBox="1"/>
          <p:nvPr/>
        </p:nvSpPr>
        <p:spPr>
          <a:xfrm>
            <a:off x="484575" y="1079763"/>
            <a:ext cx="582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Customizing Authentication Failure Response</a:t>
            </a:r>
            <a:endParaRPr b="1" sz="2000" u="sng">
              <a:solidFill>
                <a:srgbClr val="C9211E"/>
              </a:solidFill>
            </a:endParaRPr>
          </a:p>
        </p:txBody>
      </p:sp>
      <p:sp>
        <p:nvSpPr>
          <p:cNvPr id="270" name="Google Shape;270;p49"/>
          <p:cNvSpPr txBox="1"/>
          <p:nvPr/>
        </p:nvSpPr>
        <p:spPr>
          <a:xfrm>
            <a:off x="484575" y="1619900"/>
            <a:ext cx="4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AuthenticationEntryPoint</a:t>
            </a:r>
            <a:r>
              <a:rPr b="1" lang="en" sz="1100">
                <a:solidFill>
                  <a:schemeClr val="dk1"/>
                </a:solidFill>
              </a:rPr>
              <a:t> for REST APIs</a:t>
            </a:r>
            <a:endParaRPr/>
          </a:p>
        </p:txBody>
      </p:sp>
      <p:sp>
        <p:nvSpPr>
          <p:cNvPr id="271" name="Google Shape;271;p49"/>
          <p:cNvSpPr txBox="1"/>
          <p:nvPr/>
        </p:nvSpPr>
        <p:spPr>
          <a:xfrm>
            <a:off x="484575" y="2021425"/>
            <a:ext cx="84318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CustomAuthEntryPoint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AuthenticationEntryPoint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commence(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HttpServletRequest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HttpServletResponse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         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AuthenticationException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.setStatus(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HttpServletResponse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.SC_UNAUTHORIZED);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.setContentType(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"application/json"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.getWriter().write(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"{\"error\":\"Unauthorized\",\"message\":\""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.getMessage() +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"\"}"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49"/>
          <p:cNvSpPr txBox="1"/>
          <p:nvPr/>
        </p:nvSpPr>
        <p:spPr>
          <a:xfrm>
            <a:off x="512275" y="3953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Register in Security Config:</a:t>
            </a:r>
            <a:endParaRPr/>
          </a:p>
        </p:txBody>
      </p:sp>
      <p:sp>
        <p:nvSpPr>
          <p:cNvPr id="273" name="Google Shape;273;p49"/>
          <p:cNvSpPr txBox="1"/>
          <p:nvPr/>
        </p:nvSpPr>
        <p:spPr>
          <a:xfrm>
            <a:off x="636900" y="4307125"/>
            <a:ext cx="6078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http.exceptionHandling()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 .authenticationEntryPoint(customAuthEntryPoint)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Handling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0" name="Google Shape;280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1" name="Google Shape;281;p5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0"/>
          <p:cNvSpPr txBox="1"/>
          <p:nvPr/>
        </p:nvSpPr>
        <p:spPr>
          <a:xfrm>
            <a:off x="484575" y="1079763"/>
            <a:ext cx="582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Customizing Access Denied Response</a:t>
            </a:r>
            <a:endParaRPr b="1" sz="2000" u="sng">
              <a:solidFill>
                <a:srgbClr val="C9211E"/>
              </a:solidFill>
            </a:endParaRPr>
          </a:p>
        </p:txBody>
      </p:sp>
      <p:sp>
        <p:nvSpPr>
          <p:cNvPr id="283" name="Google Shape;283;p50"/>
          <p:cNvSpPr txBox="1"/>
          <p:nvPr/>
        </p:nvSpPr>
        <p:spPr>
          <a:xfrm>
            <a:off x="484575" y="1619900"/>
            <a:ext cx="41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AuthenticationEntryPoint</a:t>
            </a:r>
            <a:r>
              <a:rPr b="1" lang="en" sz="1100">
                <a:solidFill>
                  <a:schemeClr val="dk1"/>
                </a:solidFill>
              </a:rPr>
              <a:t> for REST APIs</a:t>
            </a:r>
            <a:endParaRPr/>
          </a:p>
        </p:txBody>
      </p:sp>
      <p:sp>
        <p:nvSpPr>
          <p:cNvPr id="284" name="Google Shape;284;p50"/>
          <p:cNvSpPr txBox="1"/>
          <p:nvPr/>
        </p:nvSpPr>
        <p:spPr>
          <a:xfrm>
            <a:off x="484575" y="2021425"/>
            <a:ext cx="84318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CustomAccessDeniedHandler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AccessDeniedHandler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sz="10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handle(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HttpServletRequest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HttpServletResponse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       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AccessDeniedException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31800" lvl="0" marL="482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.setStatus(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HttpServletResponse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.SC_FORBIDDEN);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.setContentType(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"application/json"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.getWriter().write(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"{\"error\":\"Forbidden\",\"message\":\""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.getMessage() + 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"\"}"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50"/>
          <p:cNvSpPr txBox="1"/>
          <p:nvPr/>
        </p:nvSpPr>
        <p:spPr>
          <a:xfrm>
            <a:off x="512275" y="3953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Register in Security Config:</a:t>
            </a:r>
            <a:endParaRPr/>
          </a:p>
        </p:txBody>
      </p:sp>
      <p:sp>
        <p:nvSpPr>
          <p:cNvPr id="286" name="Google Shape;286;p50"/>
          <p:cNvSpPr txBox="1"/>
          <p:nvPr/>
        </p:nvSpPr>
        <p:spPr>
          <a:xfrm>
            <a:off x="636900" y="4307125"/>
            <a:ext cx="6078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31800" lvl="0" marL="482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http.exceptionHandling()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          .accessDeniedHandler(customAccessDeniedHandler)</a:t>
            </a:r>
            <a:r>
              <a:rPr lang="en" sz="10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Handling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3" name="Google Shape;293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4" name="Google Shape;294;p5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1"/>
          <p:cNvSpPr txBox="1"/>
          <p:nvPr/>
        </p:nvSpPr>
        <p:spPr>
          <a:xfrm>
            <a:off x="484575" y="1079763"/>
            <a:ext cx="582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Handling Exceptions with @ExceptionHandler</a:t>
            </a:r>
            <a:endParaRPr b="1" sz="2000" u="sng">
              <a:solidFill>
                <a:srgbClr val="C9211E"/>
              </a:solidFill>
            </a:endParaRPr>
          </a:p>
        </p:txBody>
      </p:sp>
      <p:sp>
        <p:nvSpPr>
          <p:cNvPr id="296" name="Google Shape;296;p51"/>
          <p:cNvSpPr txBox="1"/>
          <p:nvPr/>
        </p:nvSpPr>
        <p:spPr>
          <a:xfrm>
            <a:off x="643800" y="1572375"/>
            <a:ext cx="77256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Catch authentication or authorization exceptions in your controller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Return </a:t>
            </a:r>
            <a:r>
              <a:rPr b="1" lang="en" sz="1300">
                <a:solidFill>
                  <a:schemeClr val="dk1"/>
                </a:solidFill>
              </a:rPr>
              <a:t>custom JSON responses</a:t>
            </a:r>
            <a:r>
              <a:rPr lang="en" sz="1300">
                <a:solidFill>
                  <a:schemeClr val="dk1"/>
                </a:solidFill>
              </a:rPr>
              <a:t> without relying solely on Spring Security defaults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Exception Handling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3" name="Google Shape;303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4" name="Google Shape;304;p5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2"/>
          <p:cNvSpPr txBox="1"/>
          <p:nvPr/>
        </p:nvSpPr>
        <p:spPr>
          <a:xfrm>
            <a:off x="408425" y="1323550"/>
            <a:ext cx="8424900" cy="22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Exercise #7: </a:t>
            </a:r>
            <a:r>
              <a:rPr b="1" lang="en" sz="2000" u="sng">
                <a:solidFill>
                  <a:srgbClr val="C9211E"/>
                </a:solidFill>
              </a:rPr>
              <a:t>Handling Exceptions with Spring Security</a:t>
            </a:r>
            <a:endParaRPr b="1" sz="2000" u="sng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Objective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Implement custom exception handlers to return </a:t>
            </a:r>
            <a:r>
              <a:rPr b="1" lang="en" sz="1300">
                <a:solidFill>
                  <a:schemeClr val="dk1"/>
                </a:solidFill>
              </a:rPr>
              <a:t>JSON responses</a:t>
            </a:r>
            <a:r>
              <a:rPr lang="en" sz="1300">
                <a:solidFill>
                  <a:schemeClr val="dk1"/>
                </a:solidFill>
              </a:rPr>
              <a:t> for authentication and authorization failures.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Secure endpoints using method-level or URL-based authorization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custom </a:t>
            </a:r>
            <a:r>
              <a:rPr b="1" lang="en" sz="1300">
                <a:solidFill>
                  <a:schemeClr val="dk1"/>
                </a:solidFill>
              </a:rPr>
              <a:t>AuthenticationEntryPoint</a:t>
            </a:r>
            <a:r>
              <a:rPr lang="en" sz="1300">
                <a:solidFill>
                  <a:schemeClr val="dk1"/>
                </a:solidFill>
              </a:rPr>
              <a:t>, custom </a:t>
            </a:r>
            <a:r>
              <a:rPr b="1" lang="en" sz="1300">
                <a:solidFill>
                  <a:schemeClr val="dk1"/>
                </a:solidFill>
              </a:rPr>
              <a:t>AccessDeniedHandler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Controller-level exception handling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Practices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2" name="Google Shape;312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3" name="Google Shape;313;p5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3"/>
          <p:cNvSpPr txBox="1"/>
          <p:nvPr/>
        </p:nvSpPr>
        <p:spPr>
          <a:xfrm>
            <a:off x="415350" y="1088175"/>
            <a:ext cx="842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Spring Security Best Practices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15" name="Google Shape;315;p53"/>
          <p:cNvSpPr txBox="1"/>
          <p:nvPr/>
        </p:nvSpPr>
        <p:spPr>
          <a:xfrm>
            <a:off x="484600" y="2049100"/>
            <a:ext cx="76503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Password Encoding - </a:t>
            </a:r>
            <a:r>
              <a:rPr lang="en" sz="1300">
                <a:solidFill>
                  <a:schemeClr val="dk1"/>
                </a:solidFill>
              </a:rPr>
              <a:t>Use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BCryptPasswordEncoder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Password Handling - </a:t>
            </a:r>
            <a:r>
              <a:rPr lang="en" sz="1300">
                <a:solidFill>
                  <a:schemeClr val="dk1"/>
                </a:solidFill>
              </a:rPr>
              <a:t>always store passwords securely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Consistent Exception Handling (Ensure all exceptions return </a:t>
            </a:r>
            <a:r>
              <a:rPr b="1" lang="en" sz="1300">
                <a:solidFill>
                  <a:schemeClr val="dk1"/>
                </a:solidFill>
              </a:rPr>
              <a:t>consistent JSON responses</a:t>
            </a:r>
            <a:r>
              <a:rPr lang="en" sz="1300">
                <a:solidFill>
                  <a:schemeClr val="dk1"/>
                </a:solidFill>
              </a:rPr>
              <a:t> for APIs)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Access Control &amp; Least Privilege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Apply </a:t>
            </a:r>
            <a:r>
              <a:rPr b="1" lang="en" sz="1300">
                <a:solidFill>
                  <a:schemeClr val="dk1"/>
                </a:solidFill>
              </a:rPr>
              <a:t>role-based access control</a:t>
            </a:r>
            <a:r>
              <a:rPr lang="en" sz="1300">
                <a:solidFill>
                  <a:schemeClr val="dk1"/>
                </a:solidFill>
              </a:rPr>
              <a:t>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ROLE_USER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ROLE_ADMIN</a:t>
            </a:r>
            <a:r>
              <a:rPr lang="en" sz="1300">
                <a:solidFill>
                  <a:schemeClr val="dk1"/>
                </a:solidFill>
              </a:rPr>
              <a:t>) consistently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method-level security</a:t>
            </a:r>
            <a:r>
              <a:rPr lang="en" sz="1300">
                <a:solidFill>
                  <a:schemeClr val="dk1"/>
                </a:solidFill>
              </a:rPr>
              <a:t> for fine-grained control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@PreAuthorize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Principle of least privilege:</a:t>
            </a:r>
            <a:endParaRPr sz="1300">
              <a:solidFill>
                <a:schemeClr val="dk1"/>
              </a:solidFill>
            </a:endParaRPr>
          </a:p>
          <a:p>
            <a:pPr indent="-3111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Give users only the permissions they need</a:t>
            </a:r>
            <a:endParaRPr sz="1300">
              <a:solidFill>
                <a:schemeClr val="dk1"/>
              </a:solidFill>
            </a:endParaRPr>
          </a:p>
          <a:p>
            <a:pPr indent="-3111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Avoid “catch-all” roles like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ROLE_SUPERUSER</a:t>
            </a:r>
            <a:r>
              <a:rPr lang="en" sz="1300">
                <a:solidFill>
                  <a:schemeClr val="dk1"/>
                </a:solidFill>
              </a:rPr>
              <a:t> unless absolutely necessary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Project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2" name="Google Shape;322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3" name="Google Shape;323;p5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4"/>
          <p:cNvSpPr txBox="1"/>
          <p:nvPr/>
        </p:nvSpPr>
        <p:spPr>
          <a:xfrm>
            <a:off x="408425" y="977425"/>
            <a:ext cx="842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Module 9: Final Group Project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25" name="Google Shape;325;p54"/>
          <p:cNvSpPr txBox="1"/>
          <p:nvPr/>
        </p:nvSpPr>
        <p:spPr>
          <a:xfrm>
            <a:off x="560725" y="1578350"/>
            <a:ext cx="55797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Apply Spring Security concepts to the previously-made Library System.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Implement </a:t>
            </a:r>
            <a:r>
              <a:rPr b="1" lang="en" sz="1100">
                <a:solidFill>
                  <a:schemeClr val="dk1"/>
                </a:solidFill>
              </a:rPr>
              <a:t>role-based access control</a:t>
            </a:r>
            <a:r>
              <a:rPr lang="en" sz="1100">
                <a:solidFill>
                  <a:schemeClr val="dk1"/>
                </a:solidFill>
              </a:rPr>
              <a:t>, exception handling, and best practices.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Roles: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ROLE_ADMIN</a:t>
            </a:r>
            <a:r>
              <a:rPr lang="en" sz="1100">
                <a:solidFill>
                  <a:schemeClr val="dk1"/>
                </a:solidFill>
              </a:rPr>
              <a:t> → Manage books (add, edit, delete)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ROLE_USER</a:t>
            </a:r>
            <a:r>
              <a:rPr lang="en" sz="1100">
                <a:solidFill>
                  <a:schemeClr val="dk1"/>
                </a:solidFill>
              </a:rPr>
              <a:t> → Borrow and return books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Focus Areas: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Authentication (database or in-memory users)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Authorization (URL- and method-level security)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Security Context (fetch current user info)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Exception handling (401/403 JSON responses)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Best practices (password hashing, s</a:t>
            </a:r>
            <a:r>
              <a:rPr lang="en" sz="1100">
                <a:solidFill>
                  <a:schemeClr val="dk1"/>
                </a:solidFill>
              </a:rPr>
              <a:t>ession management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