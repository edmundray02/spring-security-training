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5"/>
    <p:sldMasterId id="2147483684" r:id="rId6"/>
    <p:sldMasterId id="214748368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</p:sldIdLst>
  <p:sldSz cy="5143500" cx="9144000"/>
  <p:notesSz cx="6858000" cy="9144000"/>
  <p:embeddedFontLst>
    <p:embeddedFont>
      <p:font typeface="IBM Plex Sans"/>
      <p:regular r:id="rId32"/>
      <p:bold r:id="rId33"/>
      <p:italic r:id="rId34"/>
      <p:boldItalic r:id="rId35"/>
    </p:embeddedFont>
    <p:embeddedFont>
      <p:font typeface="Arial Black"/>
      <p:regular r:id="rId36"/>
    </p:embeddedFont>
    <p:embeddedFont>
      <p:font typeface="Roboto Mon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8F8FDC-2CFE-4CD8-85C3-C12D44E5F0A9}">
  <a:tblStyle styleId="{A08F8FDC-2CFE-4CD8-85C3-C12D44E5F0A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Italic.fntdata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font" Target="fonts/IBMPlexSans-bold.fntdata"/><Relationship Id="rId10" Type="http://schemas.openxmlformats.org/officeDocument/2006/relationships/slide" Target="slides/slide2.xml"/><Relationship Id="rId32" Type="http://schemas.openxmlformats.org/officeDocument/2006/relationships/font" Target="fonts/IBMPlexSans-regular.fntdata"/><Relationship Id="rId13" Type="http://schemas.openxmlformats.org/officeDocument/2006/relationships/slide" Target="slides/slide5.xml"/><Relationship Id="rId35" Type="http://schemas.openxmlformats.org/officeDocument/2006/relationships/font" Target="fonts/IBMPlexSans-boldItalic.fntdata"/><Relationship Id="rId12" Type="http://schemas.openxmlformats.org/officeDocument/2006/relationships/slide" Target="slides/slide4.xml"/><Relationship Id="rId34" Type="http://schemas.openxmlformats.org/officeDocument/2006/relationships/font" Target="fonts/IBMPlexSans-italic.fntdata"/><Relationship Id="rId15" Type="http://schemas.openxmlformats.org/officeDocument/2006/relationships/slide" Target="slides/slide7.xml"/><Relationship Id="rId37" Type="http://schemas.openxmlformats.org/officeDocument/2006/relationships/font" Target="fonts/RobotoMono-regular.fntdata"/><Relationship Id="rId14" Type="http://schemas.openxmlformats.org/officeDocument/2006/relationships/slide" Target="slides/slide6.xml"/><Relationship Id="rId36" Type="http://schemas.openxmlformats.org/officeDocument/2006/relationships/font" Target="fonts/ArialBlack-regular.fntdata"/><Relationship Id="rId17" Type="http://schemas.openxmlformats.org/officeDocument/2006/relationships/slide" Target="slides/slide9.xml"/><Relationship Id="rId39" Type="http://schemas.openxmlformats.org/officeDocument/2006/relationships/font" Target="fonts/RobotoMono-italic.fntdata"/><Relationship Id="rId16" Type="http://schemas.openxmlformats.org/officeDocument/2006/relationships/slide" Target="slides/slide8.xml"/><Relationship Id="rId38" Type="http://schemas.openxmlformats.org/officeDocument/2006/relationships/font" Target="fonts/RobotoMono-bold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3cf5223eb_0_64:notes"/>
          <p:cNvSpPr txBox="1"/>
          <p:nvPr>
            <p:ph idx="1" type="body"/>
          </p:nvPr>
        </p:nvSpPr>
        <p:spPr>
          <a:xfrm>
            <a:off x="760343" y="4699239"/>
            <a:ext cx="6082200" cy="44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a3cf5223eb_0_64:notes"/>
          <p:cNvSpPr/>
          <p:nvPr>
            <p:ph idx="2" type="sldImg"/>
          </p:nvPr>
        </p:nvSpPr>
        <p:spPr>
          <a:xfrm>
            <a:off x="521922" y="751751"/>
            <a:ext cx="6558900" cy="37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51c6d58e0_0_33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g3b51c6d58e0_0_33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b51c6d58e0_0_33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e731a4aa0_0_11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g3ce731a4aa0_0_11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ce731a4aa0_0_11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f4d221f3d_0_4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g3cf4d221f3d_0_4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cf4d221f3d_0_4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f4d221f3d_0_12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3cf4d221f3d_0_12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cf4d221f3d_0_12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f4d221f3d_0_22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g3cf4d221f3d_0_22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cf4d221f3d_0_22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cf4d221f3d_0_32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g3cf4d221f3d_0_32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cf4d221f3d_0_32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f4d221f3d_0_44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g3cf4d221f3d_0_44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cf4d221f3d_0_44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cf4d221f3d_0_60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3cf4d221f3d_0_60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cf4d221f3d_0_60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f4d221f3d_0_72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g3cf4d221f3d_0_72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cf4d221f3d_0_72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cf4d221f3d_0_84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g3cf4d221f3d_0_84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cf4d221f3d_0_84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cf4d221f3d_0_96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g3cf4d221f3d_0_96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cf4d221f3d_0_96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cf4d221f3d_0_106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g3cf4d221f3d_0_106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cf4d221f3d_0_106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f4d221f3d_0_126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g3cf4d221f3d_0_126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cf4d221f3d_0_126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cf4d221f3d_0_140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g3cf4d221f3d_0_140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cf4d221f3d_0_140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cf4d221f3d_0_154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g3cf4d221f3d_0_154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cf4d221f3d_0_154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cf4d221f3d_0_163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g3cf4d221f3d_0_163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cf4d221f3d_0_163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cf4d221f3d_0_171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9" name="Google Shape;319;g3cf4d221f3d_0_171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cf4d221f3d_0_171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cf4d221f3d_0_188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g3cf4d221f3d_0_188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cf4d221f3d_0_188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cf4d221f3d_0_206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1" name="Google Shape;341;g3cf4d221f3d_0_206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cf4d221f3d_0_206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cf4d221f3d_0_218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0" name="Google Shape;350;g3cf4d221f3d_0_218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cf4d221f3d_0_218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cf4d221f3d_0_239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g3cf4d221f3d_0_239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3cf4d221f3d_0_239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cf4d221f3d_0_252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g3cf4d221f3d_0_252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cf4d221f3d_0_252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45711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2" type="body"/>
          </p:nvPr>
        </p:nvSpPr>
        <p:spPr>
          <a:xfrm>
            <a:off x="467397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idx="1" type="subTitle"/>
          </p:nvPr>
        </p:nvSpPr>
        <p:spPr>
          <a:xfrm>
            <a:off x="457110" y="205200"/>
            <a:ext cx="8229300" cy="39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2" type="body"/>
          </p:nvPr>
        </p:nvSpPr>
        <p:spPr>
          <a:xfrm>
            <a:off x="467397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3" type="body"/>
          </p:nvPr>
        </p:nvSpPr>
        <p:spPr>
          <a:xfrm>
            <a:off x="45711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>
            <a:off x="45711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3" type="body"/>
          </p:nvPr>
        </p:nvSpPr>
        <p:spPr>
          <a:xfrm>
            <a:off x="467397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3" type="body"/>
          </p:nvPr>
        </p:nvSpPr>
        <p:spPr>
          <a:xfrm>
            <a:off x="45711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457110" y="120339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2" type="body"/>
          </p:nvPr>
        </p:nvSpPr>
        <p:spPr>
          <a:xfrm>
            <a:off x="45711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3" type="body"/>
          </p:nvPr>
        </p:nvSpPr>
        <p:spPr>
          <a:xfrm>
            <a:off x="45711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4" type="body"/>
          </p:nvPr>
        </p:nvSpPr>
        <p:spPr>
          <a:xfrm>
            <a:off x="467397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1" type="body"/>
          </p:nvPr>
        </p:nvSpPr>
        <p:spPr>
          <a:xfrm>
            <a:off x="45711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2" type="body"/>
          </p:nvPr>
        </p:nvSpPr>
        <p:spPr>
          <a:xfrm>
            <a:off x="323973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3" type="body"/>
          </p:nvPr>
        </p:nvSpPr>
        <p:spPr>
          <a:xfrm>
            <a:off x="602235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4" type="body"/>
          </p:nvPr>
        </p:nvSpPr>
        <p:spPr>
          <a:xfrm>
            <a:off x="45711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5" type="body"/>
          </p:nvPr>
        </p:nvSpPr>
        <p:spPr>
          <a:xfrm>
            <a:off x="323973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6" type="body"/>
          </p:nvPr>
        </p:nvSpPr>
        <p:spPr>
          <a:xfrm>
            <a:off x="602235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8"/>
          <p:cNvSpPr txBox="1"/>
          <p:nvPr>
            <p:ph idx="1" type="subTitle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9"/>
          <p:cNvSpPr txBox="1"/>
          <p:nvPr>
            <p:ph idx="1" type="body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0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30"/>
          <p:cNvSpPr txBox="1"/>
          <p:nvPr>
            <p:ph idx="1" type="body"/>
          </p:nvPr>
        </p:nvSpPr>
        <p:spPr>
          <a:xfrm>
            <a:off x="45711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30"/>
          <p:cNvSpPr txBox="1"/>
          <p:nvPr>
            <p:ph idx="2" type="body"/>
          </p:nvPr>
        </p:nvSpPr>
        <p:spPr>
          <a:xfrm>
            <a:off x="467397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1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2"/>
          <p:cNvSpPr txBox="1"/>
          <p:nvPr>
            <p:ph idx="1" type="subTitle"/>
          </p:nvPr>
        </p:nvSpPr>
        <p:spPr>
          <a:xfrm>
            <a:off x="457110" y="205200"/>
            <a:ext cx="8229300" cy="39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3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33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33"/>
          <p:cNvSpPr txBox="1"/>
          <p:nvPr>
            <p:ph idx="2" type="body"/>
          </p:nvPr>
        </p:nvSpPr>
        <p:spPr>
          <a:xfrm>
            <a:off x="467397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33"/>
          <p:cNvSpPr txBox="1"/>
          <p:nvPr>
            <p:ph idx="3" type="body"/>
          </p:nvPr>
        </p:nvSpPr>
        <p:spPr>
          <a:xfrm>
            <a:off x="45711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4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34"/>
          <p:cNvSpPr txBox="1"/>
          <p:nvPr>
            <p:ph idx="1" type="body"/>
          </p:nvPr>
        </p:nvSpPr>
        <p:spPr>
          <a:xfrm>
            <a:off x="45711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34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34"/>
          <p:cNvSpPr txBox="1"/>
          <p:nvPr>
            <p:ph idx="3" type="body"/>
          </p:nvPr>
        </p:nvSpPr>
        <p:spPr>
          <a:xfrm>
            <a:off x="467397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5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35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35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35"/>
          <p:cNvSpPr txBox="1"/>
          <p:nvPr>
            <p:ph idx="3" type="body"/>
          </p:nvPr>
        </p:nvSpPr>
        <p:spPr>
          <a:xfrm>
            <a:off x="45711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6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36"/>
          <p:cNvSpPr txBox="1"/>
          <p:nvPr>
            <p:ph idx="1" type="body"/>
          </p:nvPr>
        </p:nvSpPr>
        <p:spPr>
          <a:xfrm>
            <a:off x="457110" y="120339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36"/>
          <p:cNvSpPr txBox="1"/>
          <p:nvPr>
            <p:ph idx="2" type="body"/>
          </p:nvPr>
        </p:nvSpPr>
        <p:spPr>
          <a:xfrm>
            <a:off x="45711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7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37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37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37"/>
          <p:cNvSpPr txBox="1"/>
          <p:nvPr>
            <p:ph idx="3" type="body"/>
          </p:nvPr>
        </p:nvSpPr>
        <p:spPr>
          <a:xfrm>
            <a:off x="45711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37"/>
          <p:cNvSpPr txBox="1"/>
          <p:nvPr>
            <p:ph idx="4" type="body"/>
          </p:nvPr>
        </p:nvSpPr>
        <p:spPr>
          <a:xfrm>
            <a:off x="467397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8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38"/>
          <p:cNvSpPr txBox="1"/>
          <p:nvPr>
            <p:ph idx="1" type="body"/>
          </p:nvPr>
        </p:nvSpPr>
        <p:spPr>
          <a:xfrm>
            <a:off x="45711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38"/>
          <p:cNvSpPr txBox="1"/>
          <p:nvPr>
            <p:ph idx="2" type="body"/>
          </p:nvPr>
        </p:nvSpPr>
        <p:spPr>
          <a:xfrm>
            <a:off x="323973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38"/>
          <p:cNvSpPr txBox="1"/>
          <p:nvPr>
            <p:ph idx="3" type="body"/>
          </p:nvPr>
        </p:nvSpPr>
        <p:spPr>
          <a:xfrm>
            <a:off x="602235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38"/>
          <p:cNvSpPr txBox="1"/>
          <p:nvPr>
            <p:ph idx="4" type="body"/>
          </p:nvPr>
        </p:nvSpPr>
        <p:spPr>
          <a:xfrm>
            <a:off x="45711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38"/>
          <p:cNvSpPr txBox="1"/>
          <p:nvPr>
            <p:ph idx="5" type="body"/>
          </p:nvPr>
        </p:nvSpPr>
        <p:spPr>
          <a:xfrm>
            <a:off x="323973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8"/>
          <p:cNvSpPr txBox="1"/>
          <p:nvPr>
            <p:ph idx="6" type="body"/>
          </p:nvPr>
        </p:nvSpPr>
        <p:spPr>
          <a:xfrm>
            <a:off x="602235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1.jpg"/><Relationship Id="rId2" Type="http://schemas.openxmlformats.org/officeDocument/2006/relationships/image" Target="../media/image3.jp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00910" y="0"/>
            <a:ext cx="955260" cy="73737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/>
          <p:nvPr/>
        </p:nvSpPr>
        <p:spPr>
          <a:xfrm>
            <a:off x="3881250" y="4943430"/>
            <a:ext cx="5274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525" spcFirstLastPara="1" rIns="91525" wrap="square" tIns="456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D23"/>
                </a:solidFill>
                <a:latin typeface="Arial"/>
                <a:ea typeface="Arial"/>
                <a:cs typeface="Arial"/>
                <a:sym typeface="Arial"/>
              </a:rPr>
              <a:t>THIS DOCUMENT IS THE PROPERTY OF BANK OF THE PHILIPPINE ISLANDS.  STRICTLY CONFIDENTIAL.</a:t>
            </a:r>
            <a:endParaRPr b="0" i="0" sz="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4318380" y="47520"/>
            <a:ext cx="5253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3"/>
          <p:cNvSpPr/>
          <p:nvPr/>
        </p:nvSpPr>
        <p:spPr>
          <a:xfrm>
            <a:off x="1136430" y="4981500"/>
            <a:ext cx="68892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document contains confidential data. It is intended solely for  the use of authorized recipient(s). Unauthorized use, disclosure, or reproduction  is strictly prohibited.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" name="Google Shape;55;p13"/>
          <p:cNvCxnSpPr/>
          <p:nvPr/>
        </p:nvCxnSpPr>
        <p:spPr>
          <a:xfrm>
            <a:off x="2708100" y="732510"/>
            <a:ext cx="0" cy="3429000"/>
          </a:xfrm>
          <a:prstGeom prst="straightConnector1">
            <a:avLst/>
          </a:prstGeom>
          <a:noFill/>
          <a:ln cap="flat" cmpd="sng" w="21325">
            <a:solidFill>
              <a:srgbClr val="9B1D23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6" name="Google Shape;56;p13"/>
          <p:cNvSpPr/>
          <p:nvPr/>
        </p:nvSpPr>
        <p:spPr>
          <a:xfrm>
            <a:off x="8000910" y="0"/>
            <a:ext cx="1066200" cy="589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410" y="1566000"/>
            <a:ext cx="2609010" cy="201096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>
            <p:ph type="title"/>
          </p:nvPr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59" name="Google Shape;59;p13"/>
          <p:cNvSpPr txBox="1"/>
          <p:nvPr>
            <p:ph idx="1" type="body"/>
          </p:nvPr>
        </p:nvSpPr>
        <p:spPr>
          <a:xfrm>
            <a:off x="379350" y="1200150"/>
            <a:ext cx="8384400" cy="3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00910" y="0"/>
            <a:ext cx="955260" cy="73737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6"/>
          <p:cNvSpPr/>
          <p:nvPr/>
        </p:nvSpPr>
        <p:spPr>
          <a:xfrm>
            <a:off x="3881250" y="4943430"/>
            <a:ext cx="5274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525" spcFirstLastPara="1" rIns="91525" wrap="square" tIns="456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D23"/>
                </a:solidFill>
                <a:latin typeface="Arial"/>
                <a:ea typeface="Arial"/>
                <a:cs typeface="Arial"/>
                <a:sym typeface="Arial"/>
              </a:rPr>
              <a:t>THIS DOCUMENT IS THE PROPERTY OF BANK OF THE PHILIPPINE ISLANDS.  STRICTLY CONFIDENTIAL.</a:t>
            </a:r>
            <a:endParaRPr b="0" i="0" sz="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4318380" y="47520"/>
            <a:ext cx="5253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1136430" y="4981500"/>
            <a:ext cx="68892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document contains confidential data. It is intended solely for  the use of authorized recipient(s). Unauthorized use, disclosure, or reproduction  is strictly prohibited.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6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114" name="Google Shape;114;p26"/>
          <p:cNvSpPr txBox="1"/>
          <p:nvPr>
            <p:ph idx="1" type="body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9"/>
          <p:cNvSpPr/>
          <p:nvPr/>
        </p:nvSpPr>
        <p:spPr>
          <a:xfrm>
            <a:off x="2886030" y="737640"/>
            <a:ext cx="5114100" cy="21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4000">
                <a:solidFill>
                  <a:srgbClr val="9B1D23"/>
                </a:solidFill>
                <a:latin typeface="Arial Black"/>
                <a:ea typeface="Arial Black"/>
                <a:cs typeface="Arial Black"/>
                <a:sym typeface="Arial Black"/>
              </a:rPr>
              <a:t>Module 9: Spring Security Basics</a:t>
            </a:r>
            <a:endParaRPr b="1"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9B1D2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8" name="Google Shape;168;p39"/>
          <p:cNvSpPr/>
          <p:nvPr/>
        </p:nvSpPr>
        <p:spPr>
          <a:xfrm>
            <a:off x="2886030" y="2919780"/>
            <a:ext cx="51141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latin typeface="Calibri"/>
                <a:ea typeface="Calibri"/>
                <a:cs typeface="Calibri"/>
                <a:sym typeface="Calibri"/>
              </a:rPr>
              <a:t>A BPI Training Program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9"/>
          <p:cNvSpPr/>
          <p:nvPr/>
        </p:nvSpPr>
        <p:spPr>
          <a:xfrm>
            <a:off x="0" y="4841640"/>
            <a:ext cx="7611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Objectives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76" name="Google Shape;176;p40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7" name="Google Shape;177;p40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C9211E"/>
                </a:solidFill>
              </a:rPr>
              <a:t>Day 2 </a:t>
            </a:r>
            <a:r>
              <a:rPr b="1" lang="en" sz="4000">
                <a:solidFill>
                  <a:srgbClr val="C9211E"/>
                </a:solidFill>
              </a:rPr>
              <a:t>—</a:t>
            </a:r>
            <a:r>
              <a:rPr b="1" lang="en" sz="4000">
                <a:solidFill>
                  <a:srgbClr val="C9211E"/>
                </a:solidFill>
              </a:rPr>
              <a:t> Authorization and Database Authentication</a:t>
            </a:r>
            <a:endParaRPr b="1" sz="4000">
              <a:solidFill>
                <a:srgbClr val="C9211E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C9211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1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Objectives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84" name="Google Shape;184;p41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5" name="Google Shape;185;p41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500" u="sng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Learning</a:t>
            </a:r>
            <a:r>
              <a:rPr b="1" lang="en" sz="1500" u="sng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 Objectives:</a:t>
            </a:r>
            <a:endParaRPr b="1" sz="1300" u="sng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Implement </a:t>
            </a:r>
            <a:r>
              <a:rPr b="1" lang="en" sz="1300">
                <a:solidFill>
                  <a:schemeClr val="dk1"/>
                </a:solidFill>
              </a:rPr>
              <a:t>role-based authorization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Secure </a:t>
            </a:r>
            <a:r>
              <a:rPr b="1" lang="en" sz="1300">
                <a:solidFill>
                  <a:schemeClr val="dk1"/>
                </a:solidFill>
              </a:rPr>
              <a:t>HTTP endpoints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Use </a:t>
            </a:r>
            <a:r>
              <a:rPr b="1" lang="en" sz="1300">
                <a:solidFill>
                  <a:schemeClr val="dk1"/>
                </a:solidFill>
              </a:rPr>
              <a:t>method-level security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Authenticate users from </a:t>
            </a:r>
            <a:r>
              <a:rPr b="1" lang="en" sz="1300">
                <a:solidFill>
                  <a:schemeClr val="dk1"/>
                </a:solidFill>
              </a:rPr>
              <a:t>a database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Implement </a:t>
            </a:r>
            <a:r>
              <a:rPr b="1" lang="en" sz="1300">
                <a:solidFill>
                  <a:schemeClr val="dk1"/>
                </a:solidFill>
              </a:rPr>
              <a:t>CustomUserDetailsService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Understand </a:t>
            </a:r>
            <a:r>
              <a:rPr b="1" lang="en" sz="1300">
                <a:solidFill>
                  <a:schemeClr val="dk1"/>
                </a:solidFill>
              </a:rPr>
              <a:t>real Spring Security production design (Using database authentication and authorization)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2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Key Takeaways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92" name="Google Shape;192;p42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3" name="Google Shape;193;p42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500" u="sng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Key Takeaways from Day 1 Session</a:t>
            </a:r>
            <a:endParaRPr b="1" sz="1300" u="sng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Spring Security and its architecture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Default spring security behavior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Authentication flow and components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In-Memory Authentication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Password Encoding (BCrypt)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3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Authorization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00" name="Google Shape;200;p43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1" name="Google Shape;201;p43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What is Authorization?</a:t>
            </a:r>
            <a:endParaRPr b="1" sz="2000" u="sng">
              <a:solidFill>
                <a:srgbClr val="C9211E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Determines what resources/endpoints a user can access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Checks roles/authorities after authentication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Examples:</a:t>
            </a:r>
            <a:endParaRPr sz="1500">
              <a:solidFill>
                <a:schemeClr val="dk1"/>
              </a:solidFill>
            </a:endParaRPr>
          </a:p>
          <a:p>
            <a:pPr indent="-3238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/admin</a:t>
            </a:r>
            <a:r>
              <a:rPr lang="en" sz="1500">
                <a:solidFill>
                  <a:schemeClr val="dk1"/>
                </a:solidFill>
              </a:rPr>
              <a:t> → ADMIN role</a:t>
            </a:r>
            <a:endParaRPr sz="1500">
              <a:solidFill>
                <a:schemeClr val="dk1"/>
              </a:solidFill>
            </a:endParaRPr>
          </a:p>
          <a:p>
            <a:pPr indent="-3238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/profile</a:t>
            </a:r>
            <a:r>
              <a:rPr lang="en" sz="1500">
                <a:solidFill>
                  <a:schemeClr val="dk1"/>
                </a:solidFill>
              </a:rPr>
              <a:t> → USER role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4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Authorization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08" name="Google Shape;208;p44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9" name="Google Shape;209;p44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9211E"/>
                </a:solidFill>
              </a:rPr>
              <a:t>Roles vs Authorities</a:t>
            </a:r>
            <a:endParaRPr b="1" sz="2000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10" name="Google Shape;210;p44"/>
          <p:cNvGraphicFramePr/>
          <p:nvPr/>
        </p:nvGraphicFramePr>
        <p:xfrm>
          <a:off x="685450" y="191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{A08F8FDC-2CFE-4CD8-85C3-C12D44E5F0A9}</a:tableStyleId>
              </a:tblPr>
              <a:tblGrid>
                <a:gridCol w="966875"/>
                <a:gridCol w="2218875"/>
                <a:gridCol w="3718800"/>
              </a:tblGrid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Term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Meaning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Example</a:t>
                      </a:r>
                      <a:endParaRPr b="1" sz="13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Role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High-level permission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ROLE_USER, ROLE_ADMIN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Authority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Specific permission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READ_PRODUCTS, DELETE_USERS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5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Authorization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17" name="Google Shape;217;p45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8" name="Google Shape;218;p45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9211E"/>
                </a:solidFill>
              </a:rPr>
              <a:t>Where Do Roles Come From?</a:t>
            </a:r>
            <a:endParaRPr b="1" sz="2000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5"/>
          <p:cNvSpPr txBox="1"/>
          <p:nvPr/>
        </p:nvSpPr>
        <p:spPr>
          <a:xfrm>
            <a:off x="581500" y="1758350"/>
            <a:ext cx="6438000" cy="15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Assigned when user is created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Stored in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UserDetails</a:t>
            </a:r>
            <a:r>
              <a:rPr lang="en">
                <a:solidFill>
                  <a:schemeClr val="dk1"/>
                </a:solidFill>
              </a:rPr>
              <a:t> object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Sources:</a:t>
            </a:r>
            <a:endParaRPr>
              <a:solidFill>
                <a:schemeClr val="dk1"/>
              </a:solidFill>
            </a:endParaRPr>
          </a:p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In-Memory</a:t>
            </a:r>
            <a:endParaRPr>
              <a:solidFill>
                <a:schemeClr val="dk1"/>
              </a:solidFill>
            </a:endParaRPr>
          </a:p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Database </a:t>
            </a:r>
            <a:r>
              <a:rPr lang="en">
                <a:solidFill>
                  <a:schemeClr val="dk1"/>
                </a:solidFill>
              </a:rPr>
              <a:t>t</a:t>
            </a:r>
            <a:r>
              <a:rPr lang="en">
                <a:solidFill>
                  <a:schemeClr val="dk1"/>
                </a:solidFill>
              </a:rPr>
              <a:t>ables</a:t>
            </a:r>
            <a:endParaRPr>
              <a:solidFill>
                <a:schemeClr val="dk1"/>
              </a:solidFill>
            </a:endParaRPr>
          </a:p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LDAP / Identity Provider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6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Authorization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26" name="Google Shape;226;p46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27" name="Google Shape;227;p46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9211E"/>
                </a:solidFill>
              </a:rPr>
              <a:t>URL-Based Authorization</a:t>
            </a:r>
            <a:endParaRPr b="1" sz="2000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46"/>
          <p:cNvSpPr txBox="1"/>
          <p:nvPr/>
        </p:nvSpPr>
        <p:spPr>
          <a:xfrm>
            <a:off x="754575" y="1716825"/>
            <a:ext cx="589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Securing endpoints via HttpSecurity in based on URL</a:t>
            </a:r>
            <a:endParaRPr/>
          </a:p>
        </p:txBody>
      </p:sp>
      <p:sp>
        <p:nvSpPr>
          <p:cNvPr id="229" name="Google Shape;229;p46"/>
          <p:cNvSpPr txBox="1"/>
          <p:nvPr/>
        </p:nvSpPr>
        <p:spPr>
          <a:xfrm>
            <a:off x="546875" y="2277550"/>
            <a:ext cx="7808700" cy="26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@Bean</a:t>
            </a:r>
            <a:endParaRPr sz="1100">
              <a:solidFill>
                <a:srgbClr val="64646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chemeClr val="dk1"/>
                </a:solidFill>
                <a:highlight>
                  <a:srgbClr val="D4D4D4"/>
                </a:highlight>
                <a:latin typeface="Courier New"/>
                <a:ea typeface="Courier New"/>
                <a:cs typeface="Courier New"/>
                <a:sym typeface="Courier New"/>
              </a:rPr>
              <a:t>SecurityFilterChain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securityFilterChain(HttpSecurity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http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throws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Exception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http</a:t>
            </a:r>
            <a:endParaRPr sz="1100">
              <a:solidFill>
                <a:srgbClr val="6A3E3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           .</a:t>
            </a:r>
            <a:r>
              <a:rPr lang="en" sz="1100">
                <a:solidFill>
                  <a:schemeClr val="dk1"/>
                </a:solidFill>
                <a:highlight>
                  <a:srgbClr val="D4D4D4"/>
                </a:highlight>
                <a:latin typeface="Courier New"/>
                <a:ea typeface="Courier New"/>
                <a:cs typeface="Courier New"/>
                <a:sym typeface="Courier New"/>
              </a:rPr>
              <a:t>authorizeHttpRequests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auth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-&gt;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auth</a:t>
            </a:r>
            <a:endParaRPr sz="1100">
              <a:solidFill>
                <a:srgbClr val="6A3E3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           	  .requestMatchers(</a:t>
            </a:r>
            <a:r>
              <a:rPr lang="en" sz="11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"/public/**"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).permitAll()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           	  .requestMatchers(</a:t>
            </a:r>
            <a:r>
              <a:rPr lang="en" sz="11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"/profile/**"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).hasRole(</a:t>
            </a:r>
            <a:r>
              <a:rPr lang="en" sz="11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"USER"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           	  .requestMatchers(</a:t>
            </a:r>
            <a:r>
              <a:rPr lang="en" sz="11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"/admin/**"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).hasRole(</a:t>
            </a:r>
            <a:r>
              <a:rPr lang="en" sz="11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"ADMIN"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           	  .anyRequest().authenticated()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           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           .</a:t>
            </a:r>
            <a:r>
              <a:rPr lang="en" sz="1100">
                <a:solidFill>
                  <a:schemeClr val="dk1"/>
                </a:solidFill>
                <a:highlight>
                  <a:srgbClr val="D4D4D4"/>
                </a:highlight>
                <a:latin typeface="Courier New"/>
                <a:ea typeface="Courier New"/>
                <a:cs typeface="Courier New"/>
                <a:sym typeface="Courier New"/>
              </a:rPr>
              <a:t>httpBasic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withDefaults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b="1" lang="en" sz="1100">
                <a:solidFill>
                  <a:srgbClr val="7F0055"/>
                </a:solidFill>
                <a:highlight>
                  <a:srgbClr val="D4D4D4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100">
                <a:solidFill>
                  <a:schemeClr val="dk1"/>
                </a:solidFill>
                <a:highlight>
                  <a:srgbClr val="D4D4D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6A3E3E"/>
                </a:solidFill>
                <a:highlight>
                  <a:srgbClr val="D4D4D4"/>
                </a:highlight>
                <a:latin typeface="Courier New"/>
                <a:ea typeface="Courier New"/>
                <a:cs typeface="Courier New"/>
                <a:sym typeface="Courier New"/>
              </a:rPr>
              <a:t>http</a:t>
            </a:r>
            <a:r>
              <a:rPr lang="en" sz="1100">
                <a:solidFill>
                  <a:schemeClr val="dk1"/>
                </a:solidFill>
                <a:highlight>
                  <a:srgbClr val="D4D4D4"/>
                </a:highlight>
                <a:latin typeface="Courier New"/>
                <a:ea typeface="Courier New"/>
                <a:cs typeface="Courier New"/>
                <a:sym typeface="Courier New"/>
              </a:rPr>
              <a:t>.build();</a:t>
            </a:r>
            <a:endParaRPr sz="1100">
              <a:solidFill>
                <a:schemeClr val="dk1"/>
              </a:solidFill>
              <a:highlight>
                <a:srgbClr val="D4D4D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 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7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Authorization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36" name="Google Shape;236;p47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7" name="Google Shape;237;p47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9211E"/>
                </a:solidFill>
              </a:rPr>
              <a:t>URL-Based Authorization (Endpoint Example)</a:t>
            </a:r>
            <a:endParaRPr b="1" sz="2000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47"/>
          <p:cNvSpPr txBox="1"/>
          <p:nvPr/>
        </p:nvSpPr>
        <p:spPr>
          <a:xfrm>
            <a:off x="1197600" y="1730650"/>
            <a:ext cx="4693500" cy="27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" sz="12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@GetMapping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"/public"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String publicPage()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"Public"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" sz="12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@GetMapping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"/profile"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String profilePage()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"Profile"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" sz="12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@GetMapping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"/admin"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String adminPage()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"Admin"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8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Authorization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45" name="Google Shape;245;p48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6" name="Google Shape;246;p48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9211E"/>
                </a:solidFill>
              </a:rPr>
              <a:t>Exercise #4: Practice URL-Based Authorization</a:t>
            </a:r>
            <a:endParaRPr b="1" sz="2000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47" name="Google Shape;247;p48"/>
          <p:cNvGraphicFramePr/>
          <p:nvPr/>
        </p:nvGraphicFramePr>
        <p:xfrm>
          <a:off x="379350" y="173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{A08F8FDC-2CFE-4CD8-85C3-C12D44E5F0A9}</a:tableStyleId>
              </a:tblPr>
              <a:tblGrid>
                <a:gridCol w="1525775"/>
                <a:gridCol w="3499375"/>
              </a:tblGrid>
              <a:tr h="329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Role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Access</a:t>
                      </a:r>
                      <a:endParaRPr b="1" sz="1300"/>
                    </a:p>
                  </a:txBody>
                  <a:tcPr marT="91425" marB="91425" marR="91425" marL="91425"/>
                </a:tc>
              </a:tr>
              <a:tr h="30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USER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Access 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/home</a:t>
                      </a:r>
                      <a:r>
                        <a:rPr lang="en" sz="1100"/>
                        <a:t> and 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/dashboard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0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MANAGER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Access 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/home</a:t>
                      </a:r>
                      <a:r>
                        <a:rPr lang="en" sz="1100"/>
                        <a:t> and 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/reports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48" name="Google Shape;248;p48"/>
          <p:cNvGraphicFramePr/>
          <p:nvPr/>
        </p:nvGraphicFramePr>
        <p:xfrm>
          <a:off x="297775" y="304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{A08F8FDC-2CFE-4CD8-85C3-C12D44E5F0A9}</a:tableStyleId>
              </a:tblPr>
              <a:tblGrid>
                <a:gridCol w="1076000"/>
                <a:gridCol w="1626825"/>
                <a:gridCol w="1921450"/>
                <a:gridCol w="2151975"/>
              </a:tblGrid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Endpoint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HTTP Method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Roles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Response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/home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GET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USER, MANAGER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"Welcome to the portal"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/dashboard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GET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USER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"User dashboard"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/reports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GET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MANAGER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"Manager reports"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9" name="Google Shape;249;p48"/>
          <p:cNvSpPr txBox="1"/>
          <p:nvPr/>
        </p:nvSpPr>
        <p:spPr>
          <a:xfrm>
            <a:off x="4845000" y="1868175"/>
            <a:ext cx="3558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Create 3 users:</a:t>
            </a:r>
            <a:br>
              <a:rPr lang="en"/>
            </a:br>
            <a:r>
              <a:rPr lang="en"/>
              <a:t>dev_1 -&gt; USER role</a:t>
            </a:r>
            <a:br>
              <a:rPr lang="en"/>
            </a:br>
            <a:r>
              <a:rPr lang="en"/>
              <a:t>dev_2 -&gt; USER role</a:t>
            </a:r>
            <a:br>
              <a:rPr lang="en"/>
            </a:br>
            <a:r>
              <a:rPr lang="en"/>
              <a:t>mgr_1 -&gt; MANAGER role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9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Authorization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56" name="Google Shape;256;p49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57" name="Google Shape;257;p49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9211E"/>
                </a:solidFill>
              </a:rPr>
              <a:t>Method-Level Security / Authorization</a:t>
            </a:r>
            <a:endParaRPr b="1" sz="2000">
              <a:solidFill>
                <a:srgbClr val="C9211E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Security at service method level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To Enable add annotation to the SecurityConfig class -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@EnableMethodSecurity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58" name="Google Shape;258;p49"/>
          <p:cNvGraphicFramePr/>
          <p:nvPr/>
        </p:nvGraphicFramePr>
        <p:xfrm>
          <a:off x="486825" y="249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{A08F8FDC-2CFE-4CD8-85C3-C12D44E5F0A9}</a:tableStyleId>
              </a:tblPr>
              <a:tblGrid>
                <a:gridCol w="1439875"/>
                <a:gridCol w="5382025"/>
              </a:tblGrid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Annotation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Usage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@PreAuthorize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Checks </a:t>
                      </a:r>
                      <a:r>
                        <a:rPr b="1" lang="en" sz="1100"/>
                        <a:t>before</a:t>
                      </a:r>
                      <a:r>
                        <a:rPr lang="en" sz="1100"/>
                        <a:t> method execution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@PostAuthorize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Checks </a:t>
                      </a:r>
                      <a:r>
                        <a:rPr b="1" lang="en" sz="1100"/>
                        <a:t>after</a:t>
                      </a:r>
                      <a:r>
                        <a:rPr lang="en" sz="1100"/>
                        <a:t> method execution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@Secured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Role-based check (simple)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@RolesAllowed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JSR-250 annotation (works similarly to 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@Secured</a:t>
                      </a:r>
                      <a:r>
                        <a:rPr lang="en" sz="1100"/>
                        <a:t>)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0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Authorization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65" name="Google Shape;265;p50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6" name="Google Shape;266;p50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9211E"/>
                </a:solidFill>
              </a:rPr>
              <a:t>Why Use Method-Level Security</a:t>
            </a:r>
            <a:endParaRPr b="1" sz="2000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67" name="Google Shape;267;p50"/>
          <p:cNvGraphicFramePr/>
          <p:nvPr/>
        </p:nvGraphicFramePr>
        <p:xfrm>
          <a:off x="678500" y="181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{A08F8FDC-2CFE-4CD8-85C3-C12D44E5F0A9}</a:tableStyleId>
              </a:tblPr>
              <a:tblGrid>
                <a:gridCol w="2143125"/>
                <a:gridCol w="4810125"/>
              </a:tblGrid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Reason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Explanation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Protect business logic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Prevent unauthorized access at the method level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Multi-channel access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REST API, Web, or scheduled jobs may call the same methods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Fine-grained control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Different roles can access different methods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Complements URL security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Adds extra layer beyond endpoint restrictions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1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Authorization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74" name="Google Shape;274;p51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75" name="Google Shape;275;p51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9211E"/>
                </a:solidFill>
              </a:rPr>
              <a:t>@PreAuthorize</a:t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51"/>
          <p:cNvSpPr txBox="1"/>
          <p:nvPr/>
        </p:nvSpPr>
        <p:spPr>
          <a:xfrm>
            <a:off x="498425" y="1642650"/>
            <a:ext cx="60156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@GetMapping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"/public"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String publicPage()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"Public"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@GetMapping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"/profile"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@PreAuthorize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"hasRole('USER')"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String profilePage()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"Profile"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@GetMapping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"/admin"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@PreAuthorize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"hasRole('ADMIN')"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String adminPage()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"Admin"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</p:txBody>
      </p:sp>
      <p:sp>
        <p:nvSpPr>
          <p:cNvPr id="277" name="Google Shape;277;p51"/>
          <p:cNvSpPr txBox="1"/>
          <p:nvPr/>
        </p:nvSpPr>
        <p:spPr>
          <a:xfrm>
            <a:off x="3648225" y="2042175"/>
            <a:ext cx="452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/public</a:t>
            </a:r>
            <a:r>
              <a:rPr lang="en" sz="1100">
                <a:solidFill>
                  <a:schemeClr val="dk1"/>
                </a:solidFill>
              </a:rPr>
              <a:t> → accessible by anyone, no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@PreAuthorize</a:t>
            </a:r>
            <a:r>
              <a:rPr lang="en" sz="1100">
                <a:solidFill>
                  <a:schemeClr val="dk1"/>
                </a:solidFill>
              </a:rPr>
              <a:t> needed</a:t>
            </a:r>
            <a:endParaRPr/>
          </a:p>
        </p:txBody>
      </p:sp>
      <p:sp>
        <p:nvSpPr>
          <p:cNvPr id="278" name="Google Shape;278;p51"/>
          <p:cNvSpPr txBox="1"/>
          <p:nvPr/>
        </p:nvSpPr>
        <p:spPr>
          <a:xfrm>
            <a:off x="3710525" y="2838300"/>
            <a:ext cx="482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/profile</a:t>
            </a:r>
            <a:r>
              <a:rPr lang="en" sz="1100">
                <a:solidFill>
                  <a:schemeClr val="dk1"/>
                </a:solidFill>
              </a:rPr>
              <a:t> → only users with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en" sz="1100">
                <a:solidFill>
                  <a:schemeClr val="dk1"/>
                </a:solidFill>
              </a:rPr>
              <a:t> role can access</a:t>
            </a:r>
            <a:endParaRPr/>
          </a:p>
        </p:txBody>
      </p:sp>
      <p:sp>
        <p:nvSpPr>
          <p:cNvPr id="279" name="Google Shape;279;p51"/>
          <p:cNvSpPr txBox="1"/>
          <p:nvPr/>
        </p:nvSpPr>
        <p:spPr>
          <a:xfrm>
            <a:off x="3758975" y="3878650"/>
            <a:ext cx="472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/admin</a:t>
            </a:r>
            <a:r>
              <a:rPr lang="en" sz="1100">
                <a:solidFill>
                  <a:schemeClr val="dk1"/>
                </a:solidFill>
              </a:rPr>
              <a:t> → only users with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ADMIN</a:t>
            </a:r>
            <a:r>
              <a:rPr lang="en" sz="1100">
                <a:solidFill>
                  <a:schemeClr val="dk1"/>
                </a:solidFill>
              </a:rPr>
              <a:t> role can access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2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Authorization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86" name="Google Shape;286;p52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87" name="Google Shape;287;p52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9211E"/>
                </a:solidFill>
              </a:rPr>
              <a:t>@Secured</a:t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52"/>
          <p:cNvSpPr txBox="1"/>
          <p:nvPr/>
        </p:nvSpPr>
        <p:spPr>
          <a:xfrm>
            <a:off x="3648225" y="2042175"/>
            <a:ext cx="452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/public</a:t>
            </a:r>
            <a:r>
              <a:rPr lang="en" sz="1100">
                <a:solidFill>
                  <a:schemeClr val="dk1"/>
                </a:solidFill>
              </a:rPr>
              <a:t> → accessible by anyone, no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@PreAuthorize</a:t>
            </a:r>
            <a:r>
              <a:rPr lang="en" sz="1100">
                <a:solidFill>
                  <a:schemeClr val="dk1"/>
                </a:solidFill>
              </a:rPr>
              <a:t> needed</a:t>
            </a:r>
            <a:endParaRPr/>
          </a:p>
        </p:txBody>
      </p:sp>
      <p:sp>
        <p:nvSpPr>
          <p:cNvPr id="289" name="Google Shape;289;p52"/>
          <p:cNvSpPr txBox="1"/>
          <p:nvPr/>
        </p:nvSpPr>
        <p:spPr>
          <a:xfrm>
            <a:off x="3710525" y="2838300"/>
            <a:ext cx="482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/profile</a:t>
            </a:r>
            <a:r>
              <a:rPr lang="en" sz="1100">
                <a:solidFill>
                  <a:schemeClr val="dk1"/>
                </a:solidFill>
              </a:rPr>
              <a:t> → only users with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en" sz="1100">
                <a:solidFill>
                  <a:schemeClr val="dk1"/>
                </a:solidFill>
              </a:rPr>
              <a:t> role can access</a:t>
            </a:r>
            <a:endParaRPr/>
          </a:p>
        </p:txBody>
      </p:sp>
      <p:sp>
        <p:nvSpPr>
          <p:cNvPr id="290" name="Google Shape;290;p52"/>
          <p:cNvSpPr txBox="1"/>
          <p:nvPr/>
        </p:nvSpPr>
        <p:spPr>
          <a:xfrm>
            <a:off x="3758975" y="3878650"/>
            <a:ext cx="472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/admin</a:t>
            </a:r>
            <a:r>
              <a:rPr lang="en" sz="1100">
                <a:solidFill>
                  <a:schemeClr val="dk1"/>
                </a:solidFill>
              </a:rPr>
              <a:t> → only users with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ADMIN</a:t>
            </a:r>
            <a:r>
              <a:rPr lang="en" sz="1100">
                <a:solidFill>
                  <a:schemeClr val="dk1"/>
                </a:solidFill>
              </a:rPr>
              <a:t> role can access</a:t>
            </a:r>
            <a:endParaRPr/>
          </a:p>
        </p:txBody>
      </p:sp>
      <p:sp>
        <p:nvSpPr>
          <p:cNvPr id="291" name="Google Shape;291;p52"/>
          <p:cNvSpPr txBox="1"/>
          <p:nvPr/>
        </p:nvSpPr>
        <p:spPr>
          <a:xfrm>
            <a:off x="408425" y="1765275"/>
            <a:ext cx="30000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@GetMapping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"/public"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String publicPage()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"Public"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@GetMapping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"/profile"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@Secured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"USER"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String profilePage()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"Profile"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@GetMapping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"/admin"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@Secured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"ADMIN"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String adminPage()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"Admin"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3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Authorization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98" name="Google Shape;298;p53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99" name="Google Shape;299;p53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9211E"/>
                </a:solidFill>
              </a:rPr>
              <a:t>Dynamic Checks with SpEL in @PreAuthorize</a:t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53"/>
          <p:cNvSpPr txBox="1"/>
          <p:nvPr/>
        </p:nvSpPr>
        <p:spPr>
          <a:xfrm>
            <a:off x="706100" y="1987575"/>
            <a:ext cx="67149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@PreAuthorize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"#username == authentication.name"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@GetMapping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"/profile/username/{username}"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String getProfileByUsername(</a:t>
            </a:r>
            <a:r>
              <a:rPr lang="en" sz="12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@PathVariable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String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username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"Profile of 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username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4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Authorization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07" name="Google Shape;307;p54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08" name="Google Shape;308;p54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9211E"/>
                </a:solidFill>
              </a:rPr>
              <a:t>Exercise #5: Apply Method-Level Security</a:t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Apply </a:t>
            </a:r>
            <a:r>
              <a:rPr b="1" lang="en" sz="1300">
                <a:solidFill>
                  <a:schemeClr val="dk1"/>
                </a:solidFill>
              </a:rPr>
              <a:t>@PreAuthorize</a:t>
            </a:r>
            <a:r>
              <a:rPr lang="en" sz="1300">
                <a:solidFill>
                  <a:schemeClr val="dk1"/>
                </a:solidFill>
              </a:rPr>
              <a:t> to endpoints from Exercise #4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Introduce new endpoint getProfileByUsername. Use @PreAuthorize with SPeL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"Profile of 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username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Test different scenarios using different users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5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Authorization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15" name="Google Shape;315;p55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16" name="Google Shape;316;p55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9211E"/>
                </a:solidFill>
              </a:rPr>
              <a:t>Database Authentication and Authorization</a:t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>
                <a:solidFill>
                  <a:schemeClr val="dk1"/>
                </a:solidFill>
              </a:rPr>
              <a:t>In-memory users are temporary and only for demo purposes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>
                <a:solidFill>
                  <a:schemeClr val="dk1"/>
                </a:solidFill>
              </a:rPr>
              <a:t>Database allows: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Persistent users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Dynamic role assignment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Secure password storage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Integration with existing user systems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6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Authorization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23" name="Google Shape;323;p56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24" name="Google Shape;324;p56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9211E"/>
                </a:solidFill>
              </a:rPr>
              <a:t>Sample Database Schema</a:t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25" name="Google Shape;325;p56"/>
          <p:cNvGraphicFramePr/>
          <p:nvPr/>
        </p:nvGraphicFramePr>
        <p:xfrm>
          <a:off x="415475" y="222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{A08F8FDC-2CFE-4CD8-85C3-C12D44E5F0A9}</a:tableStyleId>
              </a:tblPr>
              <a:tblGrid>
                <a:gridCol w="906800"/>
                <a:gridCol w="973150"/>
                <a:gridCol w="1614550"/>
              </a:tblGrid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Column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Type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Description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BIGINT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Primary key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username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VARCHAR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Unique username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password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VARCHAR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BCrypt hashed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enabled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BOOLEAN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Active user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6" name="Google Shape;326;p56"/>
          <p:cNvSpPr txBox="1"/>
          <p:nvPr/>
        </p:nvSpPr>
        <p:spPr>
          <a:xfrm>
            <a:off x="747650" y="16744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Users Table</a:t>
            </a:r>
            <a:endParaRPr/>
          </a:p>
        </p:txBody>
      </p:sp>
      <p:graphicFrame>
        <p:nvGraphicFramePr>
          <p:cNvPr id="327" name="Google Shape;327;p56"/>
          <p:cNvGraphicFramePr/>
          <p:nvPr/>
        </p:nvGraphicFramePr>
        <p:xfrm>
          <a:off x="4043600" y="222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{A08F8FDC-2CFE-4CD8-85C3-C12D44E5F0A9}</a:tableStyleId>
              </a:tblPr>
              <a:tblGrid>
                <a:gridCol w="811975"/>
                <a:gridCol w="969875"/>
                <a:gridCol w="2672775"/>
              </a:tblGrid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Column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Type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Description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BIGINT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Primary key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user_id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BIGINT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Foreign key to users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role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VARCHAR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Role name e.g., ROLE_USER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8" name="Google Shape;328;p56"/>
          <p:cNvSpPr txBox="1"/>
          <p:nvPr/>
        </p:nvSpPr>
        <p:spPr>
          <a:xfrm>
            <a:off x="4513550" y="17099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Roles Table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7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Authorization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35" name="Google Shape;335;p57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36" name="Google Shape;336;p57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9211E"/>
                </a:solidFill>
              </a:rPr>
              <a:t>Create Entities (User and Role)</a:t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57"/>
          <p:cNvSpPr txBox="1"/>
          <p:nvPr/>
        </p:nvSpPr>
        <p:spPr>
          <a:xfrm>
            <a:off x="193850" y="1938325"/>
            <a:ext cx="44721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Entity</a:t>
            </a:r>
            <a:endParaRPr sz="1000" u="sng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(name = 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"users"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User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GeneratedValue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(strategy =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GenerationType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.IDENTITY)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Long 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String 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String 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password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Boolean 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enabled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3F7F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Constructors, getters, setters</a:t>
            </a:r>
            <a:endParaRPr sz="1000">
              <a:solidFill>
                <a:srgbClr val="3F7F5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8" name="Google Shape;338;p57"/>
          <p:cNvSpPr txBox="1"/>
          <p:nvPr/>
        </p:nvSpPr>
        <p:spPr>
          <a:xfrm>
            <a:off x="4513525" y="1938325"/>
            <a:ext cx="44442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Entity</a:t>
            </a:r>
            <a:endParaRPr sz="1000" u="sng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(name = 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"roles"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Role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GeneratedValue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(strategy = 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GenerationType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.IDENTITY)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Long 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ManyToOne</a:t>
            </a:r>
            <a:endParaRPr sz="1000" u="sng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JoinColumn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(name = 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"user_id"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String 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role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3F7F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Constructors, getters, setters</a:t>
            </a:r>
            <a:endParaRPr sz="1000">
              <a:solidFill>
                <a:srgbClr val="3F7F5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8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Authorization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45" name="Google Shape;345;p58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46" name="Google Shape;346;p58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9211E"/>
                </a:solidFill>
              </a:rPr>
              <a:t>Create Repositories</a:t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58"/>
          <p:cNvSpPr txBox="1"/>
          <p:nvPr/>
        </p:nvSpPr>
        <p:spPr>
          <a:xfrm>
            <a:off x="761500" y="1765275"/>
            <a:ext cx="6368700" cy="19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Repository</a:t>
            </a:r>
            <a:endParaRPr sz="1000" u="sng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UserRepository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JpaRepository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Long&gt;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Optional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 findByUsername(String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Repository</a:t>
            </a:r>
            <a:endParaRPr sz="1000" u="sng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RoleRepository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JpaRepository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&lt;Role, Long&gt;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Query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"SELECT r.role FROM Role r WHERE r.user.id = :userId"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&lt;String&gt; findRolesByUserId(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Param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"userId"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Long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9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Authorization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54" name="Google Shape;354;p59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55" name="Google Shape;355;p59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9211E"/>
                </a:solidFill>
              </a:rPr>
              <a:t>Implement UserDetailsService</a:t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b="1"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UserDetailsService</a:t>
            </a:r>
            <a:r>
              <a:rPr lang="en" sz="1200">
                <a:solidFill>
                  <a:schemeClr val="dk1"/>
                </a:solidFill>
              </a:rPr>
              <a:t> is a </a:t>
            </a:r>
            <a:r>
              <a:rPr b="1" lang="en" sz="1200">
                <a:solidFill>
                  <a:schemeClr val="dk1"/>
                </a:solidFill>
              </a:rPr>
              <a:t>Spring Security interface</a:t>
            </a:r>
            <a:r>
              <a:rPr lang="en" sz="1200">
                <a:solidFill>
                  <a:schemeClr val="dk1"/>
                </a:solidFill>
              </a:rPr>
              <a:t> used to </a:t>
            </a:r>
            <a:r>
              <a:rPr b="1" lang="en" sz="1200">
                <a:solidFill>
                  <a:schemeClr val="dk1"/>
                </a:solidFill>
              </a:rPr>
              <a:t>load user-specific data during authentication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200">
                <a:solidFill>
                  <a:schemeClr val="dk1"/>
                </a:solidFill>
              </a:rPr>
              <a:t>Its main purpose is to provide a </a:t>
            </a:r>
            <a:r>
              <a:rPr b="1"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UserDetails</a:t>
            </a:r>
            <a:r>
              <a:rPr lang="en" sz="1200">
                <a:solidFill>
                  <a:schemeClr val="dk1"/>
                </a:solidFill>
              </a:rPr>
              <a:t> object </a:t>
            </a:r>
            <a:r>
              <a:rPr b="1" lang="en" sz="1200">
                <a:solidFill>
                  <a:schemeClr val="dk1"/>
                </a:solidFill>
              </a:rPr>
              <a:t>based on a username</a:t>
            </a:r>
            <a:r>
              <a:rPr lang="en" sz="12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/>
          </a:p>
        </p:txBody>
      </p:sp>
      <p:sp>
        <p:nvSpPr>
          <p:cNvPr id="356" name="Google Shape;356;p59"/>
          <p:cNvSpPr txBox="1"/>
          <p:nvPr/>
        </p:nvSpPr>
        <p:spPr>
          <a:xfrm>
            <a:off x="429200" y="2571750"/>
            <a:ext cx="8576700" cy="17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@Service</a:t>
            </a:r>
            <a:endParaRPr sz="1100">
              <a:solidFill>
                <a:srgbClr val="64646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CustomUserDetailsService 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implements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UserDetailsService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br>
              <a:rPr lang="en" sz="1100">
                <a:solidFill>
                  <a:srgbClr val="3F7F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1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@Override</a:t>
            </a:r>
            <a:endParaRPr sz="1100">
              <a:solidFill>
                <a:srgbClr val="64646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UserDetails loadUserByUsername(String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username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throws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UsernameNotFoundException 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" sz="1100">
                <a:solidFill>
                  <a:srgbClr val="3F7F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Implementation here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100">
              <a:solidFill>
                <a:srgbClr val="3F7F5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0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Authorization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63" name="Google Shape;363;p60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64" name="Google Shape;364;p60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9211E"/>
                </a:solidFill>
              </a:rPr>
              <a:t>Create DaoAuthenticationProvider</a:t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b="1"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DaoAuthenticationProvider</a:t>
            </a:r>
            <a:r>
              <a:rPr lang="en" sz="1200">
                <a:solidFill>
                  <a:schemeClr val="dk1"/>
                </a:solidFill>
              </a:rPr>
              <a:t> is a </a:t>
            </a:r>
            <a:r>
              <a:rPr b="1" lang="en" sz="1200">
                <a:solidFill>
                  <a:schemeClr val="dk1"/>
                </a:solidFill>
              </a:rPr>
              <a:t>Spring Security class</a:t>
            </a:r>
            <a:r>
              <a:rPr lang="en" sz="1200">
                <a:solidFill>
                  <a:schemeClr val="dk1"/>
                </a:solidFill>
              </a:rPr>
              <a:t> that performs </a:t>
            </a:r>
            <a:r>
              <a:rPr b="1" lang="en" sz="1200">
                <a:solidFill>
                  <a:schemeClr val="dk1"/>
                </a:solidFill>
              </a:rPr>
              <a:t>authentication logic using a </a:t>
            </a:r>
            <a:r>
              <a:rPr b="1"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UserDetailsService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“DAO” stands for </a:t>
            </a:r>
            <a:r>
              <a:rPr b="1" lang="en" sz="1200">
                <a:solidFill>
                  <a:schemeClr val="dk1"/>
                </a:solidFill>
              </a:rPr>
              <a:t>Data Access Object</a:t>
            </a:r>
            <a:r>
              <a:rPr lang="en" sz="1200">
                <a:solidFill>
                  <a:schemeClr val="dk1"/>
                </a:solidFill>
              </a:rPr>
              <a:t> — it retrieves user info from a data source.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1500">
                <a:solidFill>
                  <a:schemeClr val="dk1"/>
                </a:solidFill>
              </a:rPr>
            </a:br>
            <a:endParaRPr/>
          </a:p>
        </p:txBody>
      </p:sp>
      <p:sp>
        <p:nvSpPr>
          <p:cNvPr id="365" name="Google Shape;365;p60"/>
          <p:cNvSpPr txBox="1"/>
          <p:nvPr/>
        </p:nvSpPr>
        <p:spPr>
          <a:xfrm>
            <a:off x="602250" y="2651350"/>
            <a:ext cx="7005600" cy="18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@Bean</a:t>
            </a:r>
            <a:endParaRPr sz="1200">
              <a:solidFill>
                <a:srgbClr val="64646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DaoAuthenticationProvider authenticationProvider()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DaoAuthenticationProvider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provider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DaoAuthenticationProvider();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3180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provider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.setUserDetailsService(</a:t>
            </a:r>
            <a:r>
              <a:rPr lang="en" sz="1200">
                <a:solidFill>
                  <a:srgbClr val="0000C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userDetailsService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provider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.setPasswordEncoder(passwordEncoder());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provider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1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Authorization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72" name="Google Shape;372;p61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73" name="Google Shape;373;p61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9211E"/>
                </a:solidFill>
              </a:rPr>
              <a:t>Exercise #6: Implement database authentication and authorization</a:t>
            </a:r>
            <a:endParaRPr b="1" sz="1300">
              <a:solidFill>
                <a:srgbClr val="C9211E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Convert Exercise #5 to implement DB authentication and authorization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Create necessary tables, entities and repositories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Create </a:t>
            </a:r>
            <a:r>
              <a:rPr lang="en" sz="1300">
                <a:solidFill>
                  <a:schemeClr val="dk1"/>
                </a:solidFill>
                <a:highlight>
                  <a:srgbClr val="D4D4D4"/>
                </a:highlight>
              </a:rPr>
              <a:t>CustomUserDetailsService and DaoAuthenticationProvider</a:t>
            </a:r>
            <a:endParaRPr sz="1300">
              <a:solidFill>
                <a:schemeClr val="dk1"/>
              </a:solidFill>
              <a:highlight>
                <a:srgbClr val="D4D4D4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</a:rPr>
              <a:t>Test endpoints based on designated user and roles</a:t>
            </a: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4191D"/>
      </a:dk2>
      <a:lt2>
        <a:srgbClr val="F3E8EB"/>
      </a:lt2>
      <a:accent1>
        <a:srgbClr val="AF222B"/>
      </a:accent1>
      <a:accent2>
        <a:srgbClr val="DAA22B"/>
      </a:accent2>
      <a:accent3>
        <a:srgbClr val="1C43C9"/>
      </a:accent3>
      <a:accent4>
        <a:srgbClr val="1C9A0E"/>
      </a:accent4>
      <a:accent5>
        <a:srgbClr val="28B0F5"/>
      </a:accent5>
      <a:accent6>
        <a:srgbClr val="8A15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4191D"/>
      </a:dk2>
      <a:lt2>
        <a:srgbClr val="F3E8EB"/>
      </a:lt2>
      <a:accent1>
        <a:srgbClr val="AF222B"/>
      </a:accent1>
      <a:accent2>
        <a:srgbClr val="DAA22B"/>
      </a:accent2>
      <a:accent3>
        <a:srgbClr val="1C43C9"/>
      </a:accent3>
      <a:accent4>
        <a:srgbClr val="1C9A0E"/>
      </a:accent4>
      <a:accent5>
        <a:srgbClr val="28B0F5"/>
      </a:accent5>
      <a:accent6>
        <a:srgbClr val="8A15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